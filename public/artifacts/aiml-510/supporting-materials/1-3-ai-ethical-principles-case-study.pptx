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7680960" cy="4114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500" b="1">
                <a:solidFill>
                  <a:srgbClr val="2F66AA"/>
                </a:solidFill>
                <a:latin typeface="Arial"/>
              </a:defRPr>
            </a:pPr>
            <a:r>
              <a:t>AIML-510 Assignment 1.3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8503920" cy="9601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3600" b="1">
                <a:solidFill>
                  <a:srgbClr val="242A34"/>
                </a:solidFill>
                <a:latin typeface="Arial"/>
              </a:defRPr>
            </a:pPr>
            <a:r>
              <a:t>AI Ethical Principles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542032"/>
            <a:ext cx="7863840" cy="420624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800" b="0">
                <a:solidFill>
                  <a:srgbClr val="697480"/>
                </a:solidFill>
                <a:latin typeface="Arial"/>
              </a:defRPr>
            </a:pPr>
            <a:r>
              <a:t>Nexora Systems: responsible AI for enterprise data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3703320"/>
            <a:ext cx="3246120" cy="114300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3703320"/>
            <a:ext cx="30632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" y="3703320"/>
            <a:ext cx="324612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" y="3867911"/>
            <a:ext cx="27523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4233672"/>
            <a:ext cx="271576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Fictional CTO case study for an enterprise SaaS data integration platform.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3703320"/>
            <a:ext cx="3246120" cy="114300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3703320"/>
            <a:ext cx="30632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24528" y="3703320"/>
            <a:ext cx="324612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867911"/>
            <a:ext cx="27523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Decision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33672"/>
            <a:ext cx="271576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AI adoption with privacy, reliability, explainability, and trust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35824" y="3703320"/>
            <a:ext cx="3246120" cy="114300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18704" y="3703320"/>
            <a:ext cx="306323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35824" y="3703320"/>
            <a:ext cx="324612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83296" y="3867911"/>
            <a:ext cx="275234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Deliverable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4233672"/>
            <a:ext cx="271576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Ethical principles comparison, recommendation, ethics statement, and reflection.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349240"/>
            <a:ext cx="1508760" cy="329184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Enterprise SaaS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95728" y="5349240"/>
            <a:ext cx="1508760" cy="329184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Responsible 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78224" y="5349240"/>
            <a:ext cx="1508760" cy="329184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CTO Perspective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Source: OpenAI, 2026.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Company Overview: Why Nexora Needs RAI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The company is large enough, and consequential enough, to need formal AI governance.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532120" cy="105156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050" b="1">
                <a:solidFill>
                  <a:srgbClr val="121F30"/>
                </a:solidFill>
                <a:latin typeface="Arial"/>
              </a:defRPr>
            </a:pPr>
            <a:r>
              <a:t>Nexora Systems is a 300-person enterprise SaaS company supporting sensitive, real-time customer integrations.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487168"/>
            <a:ext cx="4937760" cy="2560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450" b="1">
                <a:solidFill>
                  <a:srgbClr val="2F66AA"/>
                </a:solidFill>
                <a:latin typeface="Arial"/>
              </a:defRPr>
            </a:pPr>
            <a:r>
              <a:t>Company 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80360"/>
            <a:ext cx="5349240" cy="24231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242A34"/>
                </a:solidFill>
                <a:latin typeface="Arial"/>
              </a:defRPr>
            </a:pPr>
            <a:r>
              <a:t>Founded in 2016 to simplify enterprise data integration.</a:t>
            </a:r>
          </a:p>
          <a:p>
            <a:pPr>
              <a:spcAft>
                <a:spcPts val="700"/>
              </a:spcAft>
              <a:defRPr sz="1280">
                <a:solidFill>
                  <a:srgbClr val="242A34"/>
                </a:solidFill>
                <a:latin typeface="Arial"/>
              </a:defRPr>
            </a:pPr>
            <a:r>
              <a:t>Serves fintech, healthcare, and logistics customers.</a:t>
            </a:r>
          </a:p>
          <a:p>
            <a:pPr>
              <a:spcAft>
                <a:spcPts val="700"/>
              </a:spcAft>
              <a:defRPr sz="1280">
                <a:solidFill>
                  <a:srgbClr val="242A34"/>
                </a:solidFill>
                <a:latin typeface="Arial"/>
              </a:defRPr>
            </a:pPr>
            <a:r>
              <a:t>Handles production workflows where downtime or data leakage can directly harm customers.</a:t>
            </a:r>
          </a:p>
          <a:p>
            <a:pPr>
              <a:spcAft>
                <a:spcPts val="700"/>
              </a:spcAft>
              <a:defRPr sz="1280">
                <a:solidFill>
                  <a:srgbClr val="242A34"/>
                </a:solidFill>
                <a:latin typeface="Arial"/>
              </a:defRPr>
            </a:pPr>
            <a:r>
              <a:t>The CTO leads a 30-person technology organization responsible for reliability, security, data governance, and AI adoption.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29400" y="1261872"/>
            <a:ext cx="4343400" cy="123444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12280" y="1261872"/>
            <a:ext cx="4160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29400" y="1261872"/>
            <a:ext cx="434340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1426463"/>
            <a:ext cx="38496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792224"/>
            <a:ext cx="3813048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About 300 employees and a dedicated technology group large enough for formal RAI roles and review gates.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852928"/>
            <a:ext cx="4343400" cy="123444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12280" y="2852928"/>
            <a:ext cx="4160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29400" y="2852928"/>
            <a:ext cx="434340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6872" y="3017520"/>
            <a:ext cx="38496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6872" y="3383280"/>
            <a:ext cx="3813048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Customer data crosses regulated and operationally sensitive contexts including finance, healthcare, and logistics.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4443984"/>
            <a:ext cx="4343400" cy="123444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4443984"/>
            <a:ext cx="416052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29400" y="4443984"/>
            <a:ext cx="4343400" cy="123444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4608576"/>
            <a:ext cx="38496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RAI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6872" y="4974336"/>
            <a:ext cx="3813048" cy="5760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AI recommendations must be governed before they affect production integrations or customer decisions.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Source: OpenAI,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AI Use Cases Under Consideration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Nexora should begin with assistive AI, then expand automation after testing and governance mature.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325880"/>
            <a:ext cx="4983480" cy="150876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2688" y="1325880"/>
            <a:ext cx="4800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49808" y="132588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90472"/>
            <a:ext cx="448970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Auto-suggest API mappings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856231"/>
            <a:ext cx="4453128" cy="85039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Recommend field mappings and transformations for implementation teams; humans approve before production use.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325880"/>
            <a:ext cx="4983480" cy="150876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19088" y="1325880"/>
            <a:ext cx="4800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32588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90472"/>
            <a:ext cx="448970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Anomaly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56231"/>
            <a:ext cx="4453128" cy="85039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Flag unusual data flows, latency spikes, schema drift, and suspicious patterns in integration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474720"/>
            <a:ext cx="4983480" cy="150876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3474720"/>
            <a:ext cx="4800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8" y="347472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639312"/>
            <a:ext cx="448970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Predictive failure routing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05072"/>
            <a:ext cx="4453128" cy="85039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Predict outage risk and recommend routing or retry options before customers experience service disruption.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474720"/>
            <a:ext cx="4983480" cy="1508760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19088" y="3474720"/>
            <a:ext cx="480060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36208" y="3474720"/>
            <a:ext cx="4983480" cy="150876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639312"/>
            <a:ext cx="448970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Workflow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05072"/>
            <a:ext cx="4453128" cy="85039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Suggest process simplification, cost reductions, and monitoring changes for customer operations teams.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715000"/>
            <a:ext cx="1042416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300" b="1">
                <a:solidFill>
                  <a:srgbClr val="121F30"/>
                </a:solidFill>
                <a:latin typeface="Arial"/>
              </a:defRPr>
            </a:pPr>
            <a:r>
              <a:t>Guardrail: AI may recommend actions, but customer-impacting production changes require human approval until reliability evidence supports narrower automation.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OpenAI, 2026; Department of Defense, 2022.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Comparison of AI Ethical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Five major companies emphasize overlapping ideas, but vary in how operational they 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25880"/>
          <a:ext cx="10927079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977639"/>
                <a:gridCol w="329184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64008" marR="64008" marT="36576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FFFFFF"/>
                          </a:solidFill>
                          <a:latin typeface="Arial"/>
                        </a:rPr>
                        <a:t>Operational controls</a:t>
                      </a:r>
                    </a:p>
                  </a:txBody>
                  <a:tcPr marL="64008" marR="64008" marT="36576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FFFFFF"/>
                          </a:solidFill>
                          <a:latin typeface="Arial"/>
                        </a:rPr>
                        <a:t>Human / social principles</a:t>
                      </a:r>
                    </a:p>
                  </a:txBody>
                  <a:tcPr marL="64008" marR="64008" marT="36576" marB="45720">
                    <a:solidFill>
                      <a:srgbClr val="121F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0" b="1">
                          <a:solidFill>
                            <a:srgbClr val="FFFFFF"/>
                          </a:solidFill>
                          <a:latin typeface="Arial"/>
                        </a:rPr>
                        <a:t>Broader mission</a:t>
                      </a:r>
                    </a:p>
                  </a:txBody>
                  <a:tcPr marL="64008" marR="64008" marT="36576" marB="45720">
                    <a:solidFill>
                      <a:srgbClr val="121F3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42A34"/>
                          </a:solidFill>
                          <a:latin typeface="Arial"/>
                        </a:rPr>
                        <a:t>Microsoft</a:t>
                      </a:r>
                    </a:p>
                  </a:txBody>
                  <a:tcPr marL="64008" marR="64008" marT="54864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Reliability &amp; safety; privacy &amp; security; transparency; accountability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Fairness; inclusiveness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54864" marB="45720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42A34"/>
                          </a:solidFill>
                          <a:latin typeface="Arial"/>
                        </a:rPr>
                        <a:t>Google</a:t>
                      </a:r>
                    </a:p>
                  </a:txBody>
                  <a:tcPr marL="64008" marR="64008" marT="54864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Responsible development and deployment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54864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Bold innovation; collaborative progress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42A34"/>
                          </a:solidFill>
                          <a:latin typeface="Arial"/>
                        </a:rPr>
                        <a:t>IBM</a:t>
                      </a:r>
                    </a:p>
                  </a:txBody>
                  <a:tcPr marL="64008" marR="64008" marT="54864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Robustness; privacy; transparent and explainable systems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Augment human intelligence; data ownership; fairness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54864" marB="45720"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42A34"/>
                          </a:solidFill>
                          <a:latin typeface="Arial"/>
                        </a:rPr>
                        <a:t>OpenAI</a:t>
                      </a:r>
                    </a:p>
                  </a:txBody>
                  <a:tcPr marL="64008" marR="64008" marT="54864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Resilience; adaptability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Empowerment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Democratization; universal prosperity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42A34"/>
                          </a:solidFill>
                          <a:latin typeface="Arial"/>
                        </a:rPr>
                        <a:t>Salesforce</a:t>
                      </a:r>
                    </a:p>
                  </a:txBody>
                  <a:tcPr marL="64008" marR="64008" marT="54864" marB="45720">
                    <a:solidFill>
                      <a:srgbClr val="EBF0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Responsible; transparent; accountable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42A34"/>
                          </a:solidFill>
                          <a:latin typeface="Arial"/>
                        </a:rPr>
                        <a:t>Empowering; inclusive</a:t>
                      </a:r>
                    </a:p>
                  </a:txBody>
                  <a:tcPr marL="64008" marR="64008" marT="54864" marB="45720"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54864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97880"/>
            <a:ext cx="1051560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40" b="1">
                <a:solidFill>
                  <a:srgbClr val="121F30"/>
                </a:solidFill>
                <a:latin typeface="Arial"/>
              </a:defRPr>
            </a:pPr>
            <a:r>
              <a:t>Pattern: Nexora should borrow the operational principles that recur across enterprise-facing frameworks: reliability, privacy, explainability, accountability, and fair impact.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Microsoft, n.d.; Google, n.d.; IBM, n.d.; OpenAI, 2026; Salesforce, n.d.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Recommended Ethical Principles for Nexora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Recommendations are tailored to high-trust SaaS infrastructure, not generic corporate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43000"/>
            <a:ext cx="3337560" cy="1143000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7" y="114300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130759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Reliability &amp;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39" y="167335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AI cannot degrade uptime or data accuracy.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3128" y="1143000"/>
            <a:ext cx="3337560" cy="1143000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36008" y="114300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114300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30759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Privacy &amp; data stewardship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67335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Tenant isolation, least data, and limits on third-party model use.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1143000"/>
            <a:ext cx="3337560" cy="1143000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0768" y="114300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114300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30759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Explainability &amp; transparency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67335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Customers should understand recommendations and confidence.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2743200"/>
            <a:ext cx="3337560" cy="1143000"/>
          </a:xfrm>
          <a:prstGeom prst="round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7" y="274320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274320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39" y="290779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Human accountability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39" y="327355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Humans own approvals, exceptions, and customer-impacting decisions.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53128" y="2743200"/>
            <a:ext cx="3337560" cy="1143000"/>
          </a:xfrm>
          <a:prstGeom prst="roundRect">
            <a:avLst/>
          </a:prstGeom>
          <a:solidFill>
            <a:srgbClr val="AB55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36008" y="274320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453128" y="274320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90779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Fairness &amp; inclusive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327355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Test unequal service quality, biased suggestions, and accessibility gaps.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7888" y="2743200"/>
            <a:ext cx="3337560" cy="1143000"/>
          </a:xfrm>
          <a:prstGeom prst="roundRect">
            <a:avLst/>
          </a:prstGeom>
          <a:solidFill>
            <a:srgbClr val="70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30768" y="2743200"/>
            <a:ext cx="3154679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247888" y="2743200"/>
            <a:ext cx="3337560" cy="1143000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2907792"/>
            <a:ext cx="284378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Lifecycle governance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273552"/>
            <a:ext cx="2807208" cy="48463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Review, document, monitor, audit, and retire models intentionally.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4736592"/>
            <a:ext cx="50749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500" b="1">
                <a:solidFill>
                  <a:srgbClr val="538B60"/>
                </a:solidFill>
                <a:latin typeface="Arial"/>
              </a:defRPr>
            </a:pPr>
            <a:r>
              <a:t>Included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38928"/>
            <a:ext cx="50292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700"/>
              </a:spcAft>
              <a:defRPr sz="1080">
                <a:solidFill>
                  <a:srgbClr val="242A34"/>
                </a:solidFill>
                <a:latin typeface="Arial"/>
              </a:defRPr>
            </a:pPr>
            <a:r>
              <a:t>Concrete engineering, governance, and customer-facing practices.</a:t>
            </a:r>
          </a:p>
          <a:p>
            <a:pPr>
              <a:spcAft>
                <a:spcPts val="700"/>
              </a:spcAft>
              <a:defRPr sz="1080">
                <a:solidFill>
                  <a:srgbClr val="242A34"/>
                </a:solidFill>
                <a:latin typeface="Arial"/>
              </a:defRPr>
            </a:pPr>
            <a:r>
              <a:t>Controls for sensitive data, uptime, model review, and production integrations.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736592"/>
            <a:ext cx="48920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500" b="1">
                <a:solidFill>
                  <a:srgbClr val="AB554B"/>
                </a:solidFill>
                <a:latin typeface="Arial"/>
              </a:defRPr>
            </a:pPr>
            <a:r>
              <a:t>De-emphasized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138928"/>
            <a:ext cx="498348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700"/>
              </a:spcAft>
              <a:defRPr sz="1080">
                <a:solidFill>
                  <a:srgbClr val="242A34"/>
                </a:solidFill>
                <a:latin typeface="Arial"/>
              </a:defRPr>
            </a:pPr>
            <a:r>
              <a:t>Broad societal ideals such as universal prosperity and democratization are valuable but too high-level for product controls.</a:t>
            </a:r>
          </a:p>
          <a:p>
            <a:pPr>
              <a:spcAft>
                <a:spcPts val="700"/>
              </a:spcAft>
              <a:defRPr sz="1080">
                <a:solidFill>
                  <a:srgbClr val="242A34"/>
                </a:solidFill>
                <a:latin typeface="Arial"/>
              </a:defRPr>
            </a:pPr>
            <a:r>
              <a:t>Bold innovation belongs in strategy, not as an ethical boundary.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Microsoft, n.d.; Google, n.d.; IBM, n.d.; OpenAI, 2026; Salesforce, n.d.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Nexora AI Ethics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Written to be specific enough to guide product, engineering, security, and executive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1083564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900" b="1">
                <a:solidFill>
                  <a:srgbClr val="121F30"/>
                </a:solidFill>
                <a:latin typeface="Arial"/>
              </a:defRPr>
            </a:pPr>
            <a:r>
              <a:t>Nexora Systems will build AI features that make enterprise integrations safer, clearer, and more reliable without weakening customer control over data or production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21408"/>
            <a:ext cx="50749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2121408"/>
            <a:ext cx="73152" cy="1078992"/>
          </a:xfrm>
          <a:prstGeom prst="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2276856"/>
            <a:ext cx="45720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200" b="1">
                <a:solidFill>
                  <a:srgbClr val="242A34"/>
                </a:solidFill>
                <a:latin typeface="Arial"/>
              </a:defRPr>
            </a:pPr>
            <a:r>
              <a:t>Boundaries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2560320"/>
            <a:ext cx="457200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We will not use customer data to train third-party models without explicit authorization, and we will preserve tenant isolation across AI pipelines.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2121408"/>
            <a:ext cx="50749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81928" y="2121408"/>
            <a:ext cx="73152" cy="1078992"/>
          </a:xfrm>
          <a:prstGeom prst="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276856"/>
            <a:ext cx="45720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200" b="1">
                <a:solidFill>
                  <a:srgbClr val="242A34"/>
                </a:solidFill>
                <a:latin typeface="Arial"/>
              </a:defRPr>
            </a:pPr>
            <a: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60320"/>
            <a:ext cx="457200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Each AI feature will document intended use, data used, limitations, confidence expectations, and approval paths before deployment.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3630168"/>
            <a:ext cx="50749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8" y="3630168"/>
            <a:ext cx="73152" cy="1078992"/>
          </a:xfrm>
          <a:prstGeom prst="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7" y="3785615"/>
            <a:ext cx="45720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200" b="1">
                <a:solidFill>
                  <a:srgbClr val="242A34"/>
                </a:solidFill>
                <a:latin typeface="Arial"/>
              </a:defRPr>
            </a:pPr>
            <a:r>
              <a:t>Assurance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7" y="4069079"/>
            <a:ext cx="457200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AI systems will be tested for reliability, security, privacy, unfair impact, and operational failure modes before and after release.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8" y="3630168"/>
            <a:ext cx="5074920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81928" y="3630168"/>
            <a:ext cx="73152" cy="1078992"/>
          </a:xfrm>
          <a:prstGeom prst="rect">
            <a:avLst/>
          </a:prstGeom>
          <a:solidFill>
            <a:srgbClr val="538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785615"/>
            <a:ext cx="4572000" cy="219456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200" b="1">
                <a:solidFill>
                  <a:srgbClr val="242A34"/>
                </a:solidFill>
                <a:latin typeface="Arial"/>
              </a:defRPr>
            </a:pPr>
            <a:r>
              <a:t>Accountability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069079"/>
            <a:ext cx="4572000" cy="47548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050" b="0">
                <a:solidFill>
                  <a:srgbClr val="697480"/>
                </a:solidFill>
                <a:latin typeface="Arial"/>
              </a:defRPr>
            </a:pPr>
            <a:r>
              <a:t>Product, engineering, security, legal, and executive leaders jointly own lifecycle review, incident tracking, audits, and model monitoring.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815584"/>
            <a:ext cx="1033272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00" b="1">
                <a:solidFill>
                  <a:srgbClr val="2F66AA"/>
                </a:solidFill>
                <a:latin typeface="Arial"/>
              </a:defRPr>
            </a:pPr>
            <a:r>
              <a:t>Chapter 5 connection: the statement names concrete goals, off-limits behavior, operational structures, and measurable review practices.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Sources: Blackman, 2022; Department of Defense, 2022.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Concluding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Difficulties and questions from Workshop 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2400" b="1">
                <a:solidFill>
                  <a:srgbClr val="121F30"/>
                </a:solidFill>
                <a:latin typeface="Arial"/>
              </a:defRPr>
            </a:pPr>
            <a:r>
              <a:t>The hardest part was moving from attractive principles to operational commitments.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10058400" cy="23774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A34"/>
                </a:solidFill>
                <a:latin typeface="Arial"/>
              </a:defRPr>
            </a:pPr>
            <a:r>
              <a:t>Fairness, transparency, privacy, and accountability are easy to endorse in the abstract. The harder question is what they require when a model is inaccurate, privacy limits slow development, or a customer wants faster automation.</a:t>
            </a:r>
          </a:p>
          <a:p>
            <a:pPr>
              <a:spcAft>
                <a:spcPts val="700"/>
              </a:spcAft>
              <a:defRPr sz="1500">
                <a:solidFill>
                  <a:srgbClr val="242A34"/>
                </a:solidFill>
                <a:latin typeface="Arial"/>
              </a:defRPr>
            </a:pPr>
            <a:r>
              <a:t>I also found the explainability-performance trade-off difficult. In an integration platform, the most accurate model may not always be the clearest model to explain to customers.</a:t>
            </a:r>
          </a:p>
          <a:p>
            <a:pPr>
              <a:spcAft>
                <a:spcPts val="700"/>
              </a:spcAft>
              <a:defRPr sz="1500">
                <a:solidFill>
                  <a:srgbClr val="242A34"/>
                </a:solidFill>
                <a:latin typeface="Arial"/>
              </a:defRPr>
            </a:pPr>
            <a:r>
              <a:t>My main takeaway is that responsible AI needs structure: boundaries, ownership, review points, monitoring, and evidence that teams can use during the product lifecycle.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30368"/>
            <a:ext cx="10058400" cy="45720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600" b="1">
                <a:solidFill>
                  <a:srgbClr val="2F66AA"/>
                </a:solidFill>
                <a:latin typeface="Arial"/>
              </a:defRPr>
            </a:pPr>
            <a:r>
              <a:t>Open question: when should Nexora choose a simpler, more explainable model over a more powerful but less understandable one?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Source: Personal reflection informed by Blackman, 2022.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Appendix: Case Study Prompt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Included to document the AI case-study prompt and selected scenario for the rubric.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234440"/>
            <a:ext cx="10698480" cy="50292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800" b="1">
                <a:solidFill>
                  <a:srgbClr val="121F30"/>
                </a:solidFill>
                <a:latin typeface="Arial"/>
              </a:defRPr>
            </a:pPr>
            <a:r>
              <a:t>Prompt goal: generate a CTO-centered case study for a mid-sized company facing an AI adoption decision.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93392"/>
            <a:ext cx="3429000" cy="1298448"/>
          </a:xfrm>
          <a:prstGeom prst="roundRect">
            <a:avLst/>
          </a:prstGeom>
          <a:solidFill>
            <a:srgbClr val="2F6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993392"/>
            <a:ext cx="324612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993392"/>
            <a:ext cx="3429000" cy="129844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157984"/>
            <a:ext cx="29352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Industry choice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523744"/>
            <a:ext cx="2898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Enterprise SaaS / data infrastructure, focused on real-time customer integrations.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70832" y="1993392"/>
            <a:ext cx="3429000" cy="1298448"/>
          </a:xfrm>
          <a:prstGeom prst="roundRect">
            <a:avLst/>
          </a:prstGeom>
          <a:solidFill>
            <a:srgbClr val="26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53712" y="1993392"/>
            <a:ext cx="324612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0832" y="1993392"/>
            <a:ext cx="3429000" cy="129844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157984"/>
            <a:ext cx="29352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Required elements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523744"/>
            <a:ext cx="2898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Company name, background, market, CTO role, technology disruption, and AI implementation challenge.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993392"/>
            <a:ext cx="3429000" cy="1298448"/>
          </a:xfrm>
          <a:prstGeom prst="roundRect">
            <a:avLst/>
          </a:prstGeom>
          <a:solidFill>
            <a:srgbClr val="D5A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93023" y="1993392"/>
            <a:ext cx="324612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10144" y="1993392"/>
            <a:ext cx="3429000" cy="1298448"/>
          </a:xfrm>
          <a:prstGeom prst="roundRect">
            <a:avLst/>
          </a:prstGeom>
          <a:noFill/>
          <a:ln w="1016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7615" y="2157984"/>
            <a:ext cx="2935224" cy="292608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150" b="1">
                <a:solidFill>
                  <a:srgbClr val="242A34"/>
                </a:solidFill>
                <a:latin typeface="Arial"/>
              </a:defRPr>
            </a:pPr>
            <a:r>
              <a:t>Selected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7615" y="2523744"/>
            <a:ext cx="2898648" cy="64008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919" b="0">
                <a:solidFill>
                  <a:srgbClr val="697480"/>
                </a:solidFill>
                <a:latin typeface="Arial"/>
              </a:defRPr>
            </a:pPr>
            <a:r>
              <a:t>Nexora Systems: a 300-person platform company adding responsible AI capabilities under privacy and reliability constraints.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3794760"/>
            <a:ext cx="192024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450" b="1">
                <a:solidFill>
                  <a:srgbClr val="2F66AA"/>
                </a:solidFill>
                <a:latin typeface="Arial"/>
              </a:defRPr>
            </a:pPr>
            <a:r>
              <a:t>Prompt excerpt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187952"/>
            <a:ext cx="1024128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700"/>
              </a:spcAft>
              <a:defRPr sz="1330">
                <a:solidFill>
                  <a:srgbClr val="242A34"/>
                </a:solidFill>
                <a:latin typeface="Arial"/>
              </a:defRPr>
            </a:pPr>
            <a:r>
              <a:t>Act as an expert business consultant specializing in technology leadership and digital transformation.</a:t>
            </a:r>
          </a:p>
          <a:p>
            <a:pPr>
              <a:spcAft>
                <a:spcPts val="700"/>
              </a:spcAft>
              <a:defRPr sz="1330">
                <a:solidFill>
                  <a:srgbClr val="242A34"/>
                </a:solidFill>
                <a:latin typeface="Arial"/>
              </a:defRPr>
            </a:pPr>
            <a:r>
              <a:t>Generate a comprehensive case study for a selected industry with company background, market position, CTO responsibilities, and an AI-triggering opportunity.</a:t>
            </a:r>
          </a:p>
          <a:p>
            <a:pPr>
              <a:spcAft>
                <a:spcPts val="700"/>
              </a:spcAft>
              <a:defRPr sz="1330">
                <a:solidFill>
                  <a:srgbClr val="242A34"/>
                </a:solidFill>
                <a:latin typeface="Arial"/>
              </a:defRPr>
            </a:pPr>
            <a:r>
              <a:t>After the case study, offer the option to proceed, generate a different example, or explore another industry.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50992"/>
            <a:ext cx="10241280" cy="320040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ctr">
              <a:defRPr sz="1270" b="1">
                <a:solidFill>
                  <a:srgbClr val="121F30"/>
                </a:solidFill>
                <a:latin typeface="Arial"/>
              </a:defRPr>
            </a:pPr>
            <a:r>
              <a:t>Why this matters: the prompt produced a rich scenario that supports the company overview, use cases, recommended principles, ethics statement, and reflection.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453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70">
                <a:solidFill>
                  <a:srgbClr val="788291"/>
                </a:solidFill>
                <a:latin typeface="Arial"/>
              </a:defRPr>
            </a:pPr>
            <a:r>
              <a:t>Source: OpenAI, 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42A3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97480"/>
                </a:solidFill>
                <a:latin typeface="Arial"/>
              </a:defRPr>
            </a:pPr>
            <a:r>
              <a:t>Sources used for the case study, company-principle comparison, and ethics statement.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919BAA"/>
                </a:solidFill>
                <a:latin typeface="Arial"/>
              </a:defRPr>
            </a:pPr>
            <a:r>
              <a:t>AIML-510 | Workshop 1 | AI Ethical Principles Case Study |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600" b="1">
                <a:solidFill>
                  <a:srgbClr val="2F66AA"/>
                </a:solidFill>
                <a:latin typeface="Arial"/>
              </a:defRPr>
            </a:pPr>
            <a:r>
              <a:t>Course and framework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572768"/>
            <a:ext cx="10515600" cy="141732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700"/>
              </a:spcAft>
              <a:defRPr sz="919">
                <a:solidFill>
                  <a:srgbClr val="242A34"/>
                </a:solidFill>
                <a:latin typeface="Arial"/>
              </a:defRPr>
            </a:pPr>
            <a:r>
              <a:t>Blackman, R. (2022). Ethical machines: Your concise guide to totally unbiased, transparent, and respectful AI. Harvard Business Review Press. Chapter 5.</a:t>
            </a:r>
          </a:p>
          <a:p>
            <a:pPr>
              <a:spcAft>
                <a:spcPts val="700"/>
              </a:spcAft>
              <a:defRPr sz="919">
                <a:solidFill>
                  <a:srgbClr val="242A34"/>
                </a:solidFill>
                <a:latin typeface="Arial"/>
              </a:defRPr>
            </a:pPr>
            <a:r>
              <a:t>Department of Defense. (2022). Responsible artificial intelligence strategy and implementation pathway. https://www.ai.mil/Portals/137/Documents/Resources%20Page/DoD%20Responsible%20AI%20Strategy%20and%20Implementation%20Pathway.pdf</a:t>
            </a:r>
          </a:p>
          <a:p>
            <a:pPr>
              <a:spcAft>
                <a:spcPts val="700"/>
              </a:spcAft>
              <a:defRPr sz="919">
                <a:solidFill>
                  <a:srgbClr val="242A34"/>
                </a:solidFill>
                <a:latin typeface="Arial"/>
              </a:defRPr>
            </a:pPr>
            <a:r>
              <a:t>OpenAI. (2026). ChatGPT (May 15 version) [Large language model]. https://chatgpt.com/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871216"/>
            <a:ext cx="10789920" cy="347472"/>
          </a:xfrm>
          <a:prstGeom prst="rect">
            <a:avLst/>
          </a:prstGeom>
          <a:noFill/>
        </p:spPr>
        <p:txBody>
          <a:bodyPr wrap="square" lIns="27432" rIns="27432" tIns="27432" bIns="27432">
            <a:normAutofit/>
          </a:bodyPr>
          <a:lstStyle/>
          <a:p>
            <a:pPr algn="l">
              <a:defRPr sz="1600" b="1">
                <a:solidFill>
                  <a:srgbClr val="269196"/>
                </a:solidFill>
                <a:latin typeface="Arial"/>
              </a:defRPr>
            </a:pPr>
            <a:r>
              <a:t>Company AI principle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291840"/>
            <a:ext cx="10515600" cy="2697480"/>
          </a:xfrm>
          <a:prstGeom prst="rect">
            <a:avLst/>
          </a:prstGeom>
          <a:noFill/>
        </p:spPr>
        <p:txBody>
          <a:bodyPr wrap="square" lIns="45720" rIns="45720" tIns="18288" bIns="18288">
            <a:normAutofit/>
          </a:bodyPr>
          <a:lstStyle/>
          <a:p>
            <a:pPr>
              <a:spcAft>
                <a:spcPts val="700"/>
              </a:spcAft>
              <a:defRPr sz="880">
                <a:solidFill>
                  <a:srgbClr val="242A34"/>
                </a:solidFill>
                <a:latin typeface="Arial"/>
              </a:defRPr>
            </a:pPr>
            <a:r>
              <a:t>Google. (n.d.). AI principles. Retrieved May 15, 2026, from https://ai.google/principles/</a:t>
            </a:r>
          </a:p>
          <a:p>
            <a:pPr>
              <a:spcAft>
                <a:spcPts val="700"/>
              </a:spcAft>
              <a:defRPr sz="880">
                <a:solidFill>
                  <a:srgbClr val="242A34"/>
                </a:solidFill>
                <a:latin typeface="Arial"/>
              </a:defRPr>
            </a:pPr>
            <a:r>
              <a:t>IBM. (n.d.). What is AI ethics? IBM Think. Retrieved May 15, 2026, from https://www.ibm.com/think/topics/ai-ethics</a:t>
            </a:r>
          </a:p>
          <a:p>
            <a:pPr>
              <a:spcAft>
                <a:spcPts val="700"/>
              </a:spcAft>
              <a:defRPr sz="880">
                <a:solidFill>
                  <a:srgbClr val="242A34"/>
                </a:solidFill>
                <a:latin typeface="Arial"/>
              </a:defRPr>
            </a:pPr>
            <a:r>
              <a:t>Microsoft. (n.d.). Responsible AI principles and approach. Retrieved May 15, 2026, from https://www.microsoft.com/en-us/ai/principles-and-approach</a:t>
            </a:r>
          </a:p>
          <a:p>
            <a:pPr>
              <a:spcAft>
                <a:spcPts val="700"/>
              </a:spcAft>
              <a:defRPr sz="880">
                <a:solidFill>
                  <a:srgbClr val="242A34"/>
                </a:solidFill>
                <a:latin typeface="Arial"/>
              </a:defRPr>
            </a:pPr>
            <a:r>
              <a:t>OpenAI. (2026, April 26). Our principles. https://openai.com/index/our-principles/</a:t>
            </a:r>
          </a:p>
          <a:p>
            <a:pPr>
              <a:spcAft>
                <a:spcPts val="700"/>
              </a:spcAft>
              <a:defRPr sz="880">
                <a:solidFill>
                  <a:srgbClr val="242A34"/>
                </a:solidFill>
                <a:latin typeface="Arial"/>
              </a:defRPr>
            </a:pPr>
            <a:r>
              <a:t>Salesforce. (n.d.). Trusted AI at Salesforce. Retrieved May 15, 2026, from https://www.salesforce.com/artificial-intelligence/trusted-ai/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