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76809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2F66AA"/>
                </a:solidFill>
                <a:latin typeface="Arial"/>
              </a:defRPr>
            </a:pPr>
            <a:r>
              <a:t>AIML-510 Assignment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8869680" cy="9601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3300" b="1">
                <a:solidFill>
                  <a:srgbClr val="242A34"/>
                </a:solidFill>
                <a:latin typeface="Arial"/>
              </a:defRPr>
            </a:pPr>
            <a:r>
              <a:t>Responsible AI Framework Project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542032"/>
            <a:ext cx="8046720" cy="42062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700" b="0">
                <a:solidFill>
                  <a:srgbClr val="697480"/>
                </a:solidFill>
                <a:latin typeface="Arial"/>
              </a:defRPr>
            </a:pPr>
            <a:r>
              <a:t>Nexora Systems: turning ethical principles into an operating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30752"/>
            <a:ext cx="3246120" cy="111556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3730752"/>
            <a:ext cx="30632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730752"/>
            <a:ext cx="3246120" cy="111556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895344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261104"/>
            <a:ext cx="2715768" cy="4572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Uses the same Nexora Systems case study and AI use cases from Assignment 1.3.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3730752"/>
            <a:ext cx="3246120" cy="1115568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3730752"/>
            <a:ext cx="30632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24528" y="3730752"/>
            <a:ext cx="3246120" cy="111556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95344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RAI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61104"/>
            <a:ext cx="2715768" cy="4572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Defines roles, accountability, vetting processes, and a 12-month rollout.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3730752"/>
            <a:ext cx="3246120" cy="1115568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8704" y="3730752"/>
            <a:ext cx="30632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35824" y="3730752"/>
            <a:ext cx="3246120" cy="111556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3895344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261104"/>
            <a:ext cx="2715768" cy="4572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Connects KPIs to Nexora's ethical principles and Chapter 6 guidance.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349240"/>
            <a:ext cx="1600200" cy="347472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7168" y="5349240"/>
            <a:ext cx="1600200" cy="347472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Risk Vetting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5349240"/>
            <a:ext cx="1600200" cy="347472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OpenAI, 2026; Blackman, 2022.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From Principles to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Nexora's 1.3 ethical principles become concrete governance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3337560" cy="114300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12344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3990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Reliability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17647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Release gates, reliability thresholds, incident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234440"/>
            <a:ext cx="3337560" cy="114300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2344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2344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990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Privacy &amp; data stewardship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647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Tenant isolation, data minimization, vendor restrictions.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234440"/>
            <a:ext cx="3337560" cy="114300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12344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2344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3990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Explainability &amp;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7647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Customer-facing explanations and confidence signals.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34640"/>
            <a:ext cx="3337560" cy="114300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7" y="28346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8346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39" y="29992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Human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" y="33649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Named approval owners for production-impacting 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2834640"/>
            <a:ext cx="3337560" cy="1143000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36008" y="28346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53128" y="28346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9992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Fairness &amp; inclusive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3649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Stakeholder review and service-quality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834640"/>
            <a:ext cx="3337560" cy="1143000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30768" y="283464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283464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99923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Lifecycle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36499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40" b="0">
                <a:solidFill>
                  <a:srgbClr val="697480"/>
                </a:solidFill>
                <a:latin typeface="Arial"/>
              </a:defRPr>
            </a:pPr>
            <a:r>
              <a:t>Inventory, monitoring, audit, and retirement.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420" b="1">
                <a:solidFill>
                  <a:srgbClr val="121F30"/>
                </a:solidFill>
                <a:latin typeface="Arial"/>
              </a:defRPr>
            </a:pPr>
            <a:r>
              <a:t>Chapter 6 connection: values only matter if they are assigned to people, processes, expert review, accountability, and measurable KPIs.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AIML-510 Assignment 1.3; Blackman, 2022.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RAI Organization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The CTO owns the program; the committee and operating teams provide review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143000"/>
            <a:ext cx="3703320" cy="86868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34840" y="1143000"/>
            <a:ext cx="35204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1960" y="1143000"/>
            <a:ext cx="3703320" cy="86868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307592"/>
            <a:ext cx="32095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Executive RAI Owner /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673352"/>
            <a:ext cx="3172968" cy="210311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00" b="0">
                <a:solidFill>
                  <a:srgbClr val="697480"/>
                </a:solidFill>
                <a:latin typeface="Arial"/>
              </a:defRPr>
            </a:pPr>
            <a:r>
              <a:t>Accountable for program authority, funding, escalation, and final risk posture.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542032"/>
            <a:ext cx="3703320" cy="86868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542032"/>
            <a:ext cx="3520439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2542032"/>
            <a:ext cx="3703320" cy="86868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706624"/>
            <a:ext cx="32095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AI Ethics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72384"/>
            <a:ext cx="3172968" cy="210311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00" b="0">
                <a:solidFill>
                  <a:srgbClr val="697480"/>
                </a:solidFill>
                <a:latin typeface="Arial"/>
              </a:defRPr>
            </a:pPr>
            <a:r>
              <a:t>Approves, rejects, or requires changes for medium/high-risk AI.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2029968"/>
            <a:ext cx="0" cy="484632"/>
          </a:xfrm>
          <a:prstGeom prst="line">
            <a:avLst/>
          </a:prstGeom>
          <a:ln w="20320">
            <a:solidFill>
              <a:srgbClr val="26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4160520"/>
            <a:ext cx="2331720" cy="102412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160520"/>
            <a:ext cx="2148839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160520"/>
            <a:ext cx="2331720" cy="102412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325112"/>
            <a:ext cx="1837943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40" b="1">
                <a:solidFill>
                  <a:srgbClr val="242A34"/>
                </a:solidFill>
                <a:latin typeface="Arial"/>
              </a:defRPr>
            </a:pPr>
            <a:r>
              <a:t>Product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690872"/>
            <a:ext cx="1801367" cy="3657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50" b="0">
                <a:solidFill>
                  <a:srgbClr val="697480"/>
                </a:solidFill>
                <a:latin typeface="Arial"/>
              </a:defRPr>
            </a:pPr>
            <a:r>
              <a:t>Use case, users, explanation, human workflow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856232" y="3456432"/>
            <a:ext cx="3584448" cy="612648"/>
          </a:xfrm>
          <a:prstGeom prst="line">
            <a:avLst/>
          </a:prstGeom>
          <a:ln w="20320">
            <a:solidFill>
              <a:srgbClr val="2F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11880" y="4160520"/>
            <a:ext cx="2331720" cy="1024128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94760" y="4160520"/>
            <a:ext cx="2148839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11880" y="4160520"/>
            <a:ext cx="2331720" cy="102412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2" y="4325112"/>
            <a:ext cx="1837943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40" b="1">
                <a:solidFill>
                  <a:srgbClr val="242A34"/>
                </a:solidFill>
                <a:latin typeface="Arial"/>
              </a:defRPr>
            </a:pPr>
            <a:r>
              <a:t>ML/model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4690872"/>
            <a:ext cx="1801367" cy="3657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50" b="0">
                <a:solidFill>
                  <a:srgbClr val="697480"/>
                </a:solidFill>
                <a:latin typeface="Arial"/>
              </a:defRPr>
            </a:pPr>
            <a:r>
              <a:t>Testing, monitoring, drift, reliability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782312" y="3456432"/>
            <a:ext cx="658368" cy="612648"/>
          </a:xfrm>
          <a:prstGeom prst="line">
            <a:avLst/>
          </a:prstGeom>
          <a:ln w="20320">
            <a:solidFill>
              <a:srgbClr val="26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37960" y="4160520"/>
            <a:ext cx="2331720" cy="1024128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4160520"/>
            <a:ext cx="2148839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37960" y="4160520"/>
            <a:ext cx="2331720" cy="102412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4325112"/>
            <a:ext cx="1837943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40" b="1">
                <a:solidFill>
                  <a:srgbClr val="242A34"/>
                </a:solidFill>
                <a:latin typeface="Arial"/>
              </a:defRPr>
            </a:pPr>
            <a:r>
              <a:t>Privacy/security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4690872"/>
            <a:ext cx="1801367" cy="3657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50" b="0">
                <a:solidFill>
                  <a:srgbClr val="697480"/>
                </a:solidFill>
                <a:latin typeface="Arial"/>
              </a:defRPr>
            </a:pPr>
            <a:r>
              <a:t>Data boundaries, access, vendor controls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6720840" y="3456432"/>
            <a:ext cx="987552" cy="612648"/>
          </a:xfrm>
          <a:prstGeom prst="line">
            <a:avLst/>
          </a:prstGeom>
          <a:ln w="20320">
            <a:solidFill>
              <a:srgbClr val="D5A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64040" y="4160520"/>
            <a:ext cx="2331720" cy="1024128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46919" y="4160520"/>
            <a:ext cx="2148839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64040" y="4160520"/>
            <a:ext cx="2331720" cy="102412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1" y="4325112"/>
            <a:ext cx="1837943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40" b="1">
                <a:solidFill>
                  <a:srgbClr val="242A34"/>
                </a:solidFill>
                <a:latin typeface="Arial"/>
              </a:defRPr>
            </a:pPr>
            <a:r>
              <a:t>Procurement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1511" y="4690872"/>
            <a:ext cx="1801367" cy="3657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50" b="0">
                <a:solidFill>
                  <a:srgbClr val="697480"/>
                </a:solidFill>
                <a:latin typeface="Arial"/>
              </a:defRPr>
            </a:pPr>
            <a:r>
              <a:t>Vendor evidence, contracts, renewal review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6720840" y="3456432"/>
            <a:ext cx="3913632" cy="612648"/>
          </a:xfrm>
          <a:prstGeom prst="line">
            <a:avLst/>
          </a:prstGeom>
          <a:ln w="20320">
            <a:solidFill>
              <a:srgbClr val="538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80" b="1">
                <a:solidFill>
                  <a:srgbClr val="121F30"/>
                </a:solidFill>
                <a:latin typeface="Arial"/>
              </a:defRPr>
            </a:pPr>
            <a:r>
              <a:t>NIST flow: Govern establishes roles, Map defines context, Measure tests risk, Manage monitors and improves controls.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NIST, 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Top Seven RAI Roles and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Nexora needs named responsibilities, not informal good intentions.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43000"/>
            <a:ext cx="5257800" cy="93268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1143000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307592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Executive RAI Owner /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1673352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Authority, budget, escalation, risk tradeoffs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143000"/>
            <a:ext cx="5257800" cy="932688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1143000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1143000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07592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RAI Governance Program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673352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Cadence, documentation, policy rollout, KPI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04872"/>
            <a:ext cx="5257800" cy="932688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7" y="2404872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404872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39" y="2569464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AI Ethics Committee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39" y="2935224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Ethical risk analysis, facilitation, case law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404872"/>
            <a:ext cx="5257800" cy="932688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10528" y="2404872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27648" y="2404872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569464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ML Engineering &amp; Model Risk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35224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Evaluation, monitoring, reliability, drift detection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66744"/>
            <a:ext cx="5257800" cy="932688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7" y="3666744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3666744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" y="3831335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Data Privacy &amp; Security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" y="4197096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Tenant isolation, data minimization, secure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3666744"/>
            <a:ext cx="5257800" cy="932688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10528" y="3666744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27648" y="3666744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831335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Product Impact &amp; Human Factors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197096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Explainability, user impact, approval workflows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28616"/>
            <a:ext cx="5257800" cy="93268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7" y="4928616"/>
            <a:ext cx="50749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" y="4928616"/>
            <a:ext cx="52578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39" y="5093207"/>
            <a:ext cx="47640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AI Procurement &amp; Vendor Risk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" y="5458968"/>
            <a:ext cx="47274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Due diligence, contracts, sandbox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016752"/>
            <a:ext cx="104241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2F66AA"/>
                </a:solidFill>
                <a:latin typeface="Arial"/>
              </a:defRPr>
            </a:pPr>
            <a:r>
              <a:t>Chapter 6 principle: role-specific responsibilities should be evaluated, rewarded, and enforced.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Blackman, 2022.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Accountability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RACI chart for AI governance decisions and evidence ownership.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98448"/>
          <a:ext cx="107442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960120"/>
                <a:gridCol w="1051560"/>
                <a:gridCol w="1417320"/>
                <a:gridCol w="1417320"/>
                <a:gridCol w="164592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CTO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AIEC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ML Risk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Privacy/Sec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Procurement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242A34"/>
                          </a:solidFill>
                          <a:latin typeface="Arial"/>
                        </a:rPr>
                        <a:t>Program charter + KPIs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242A34"/>
                          </a:solidFill>
                          <a:latin typeface="Arial"/>
                        </a:rPr>
                        <a:t>Internal AI evidence package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242A34"/>
                          </a:solidFill>
                          <a:latin typeface="Arial"/>
                        </a:rPr>
                        <a:t>Vendor AI due diligence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242A34"/>
                          </a:solidFill>
                          <a:latin typeface="Arial"/>
                        </a:rPr>
                        <a:t>Medium/high-risk decision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242A34"/>
                          </a:solidFill>
                          <a:latin typeface="Arial"/>
                        </a:rPr>
                        <a:t>Monitoring + incident review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42A34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2A34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650992"/>
            <a:ext cx="104241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20" b="1">
                <a:solidFill>
                  <a:srgbClr val="121F30"/>
                </a:solidFill>
                <a:latin typeface="Arial"/>
              </a:defRPr>
            </a:pPr>
            <a:r>
              <a:t>Legend: A = accountable, R = responsible, C = consulted, I = informed. Committee decisions are documented for audit and ethical case-law reuse.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NIST, 2023.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Internal AI Product Vetting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Nexora applies NIST Map/Measure/Manage and SCU ethical risk tools before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627632" cy="123444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1.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Inventory AI feature and business owner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1992" y="2578608"/>
            <a:ext cx="246887" cy="0"/>
          </a:xfrm>
          <a:prstGeom prst="line">
            <a:avLst/>
          </a:prstGeom>
          <a:ln w="20320">
            <a:solidFill>
              <a:srgbClr val="2F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96312" y="1965960"/>
            <a:ext cx="1627632" cy="123444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96312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2.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Use case, data, users, decision rights, risk tier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3944" y="2578608"/>
            <a:ext cx="246887" cy="0"/>
          </a:xfrm>
          <a:prstGeom prst="line">
            <a:avLst/>
          </a:prstGeom>
          <a:ln w="20320">
            <a:solidFill>
              <a:srgbClr val="26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98264" y="1965960"/>
            <a:ext cx="1627632" cy="123444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81144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98264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3. Sweep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SCU ethical risk sweep and pre-mortem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5896" y="2578608"/>
            <a:ext cx="246888" cy="0"/>
          </a:xfrm>
          <a:prstGeom prst="line">
            <a:avLst/>
          </a:prstGeom>
          <a:ln w="20320">
            <a:solidFill>
              <a:srgbClr val="D5A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0216" y="1965960"/>
            <a:ext cx="1627632" cy="123444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3096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0216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4.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Reliability, privacy, explainability, fair impact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8" y="2578608"/>
            <a:ext cx="246888" cy="0"/>
          </a:xfrm>
          <a:prstGeom prst="line">
            <a:avLst/>
          </a:prstGeom>
          <a:ln w="20320">
            <a:solidFill>
              <a:srgbClr val="538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02168" y="1965960"/>
            <a:ext cx="1627632" cy="1234440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85048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02168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5. 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Approve, reject, or require changes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29800" y="2578608"/>
            <a:ext cx="246888" cy="0"/>
          </a:xfrm>
          <a:prstGeom prst="line">
            <a:avLst/>
          </a:prstGeom>
          <a:ln w="20320">
            <a:solidFill>
              <a:srgbClr val="AB5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04120" y="1965960"/>
            <a:ext cx="1627632" cy="1234440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0" y="1965960"/>
            <a:ext cx="144475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4120" y="1965960"/>
            <a:ext cx="1627632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51592" y="213055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30" b="1">
                <a:solidFill>
                  <a:srgbClr val="242A34"/>
                </a:solidFill>
                <a:latin typeface="Arial"/>
              </a:defRPr>
            </a:pPr>
            <a:r>
              <a:t>6. Manage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2496312"/>
            <a:ext cx="1097280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697480"/>
                </a:solidFill>
                <a:latin typeface="Arial"/>
              </a:defRPr>
            </a:pPr>
            <a:r>
              <a:t>Monitor, escalate, incident response, rollback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3886200"/>
            <a:ext cx="53035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2F66AA"/>
                </a:solidFill>
                <a:latin typeface="Arial"/>
              </a:defRPr>
            </a:pPr>
            <a:r>
              <a:t>Required evidence package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315968"/>
            <a:ext cx="53035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intended use, limits, data sources, customer impact</a:t>
            </a:r>
          </a:p>
          <a:p>
            <a:pPr>
              <a:spcAft>
                <a:spcPts val="5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test results, approval path, rollback threshold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886200"/>
            <a:ext cx="47548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AB554B"/>
                </a:solidFill>
                <a:latin typeface="Arial"/>
              </a:defRPr>
            </a:pPr>
            <a:r>
              <a:t>Gate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4315968"/>
            <a:ext cx="46634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no production-impacting AI without named human approval</a:t>
            </a:r>
          </a:p>
          <a:p>
            <a:pPr>
              <a:spcAft>
                <a:spcPts val="500"/>
              </a:spcAft>
              <a:defRPr sz="1220">
                <a:solidFill>
                  <a:srgbClr val="242A34"/>
                </a:solidFill>
                <a:latin typeface="Arial"/>
              </a:defRPr>
            </a:pPr>
            <a:r>
              <a:t>medium/high-risk AI requires committee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NIST, 2023; Santa Clara University, n.d.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External AI Procurement Vetting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Procured AI receives the same ethical scrutiny as internally built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61872"/>
            <a:ext cx="4892040" cy="713232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61872"/>
            <a:ext cx="47091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261872"/>
            <a:ext cx="4892040" cy="713232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426463"/>
            <a:ext cx="439826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1">
                <a:solidFill>
                  <a:srgbClr val="242A34"/>
                </a:solidFill>
                <a:latin typeface="Arial"/>
              </a:defRPr>
            </a:pPr>
            <a:r>
              <a:t>Vendor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92224"/>
            <a:ext cx="4361688" cy="5486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30" b="0">
                <a:solidFill>
                  <a:srgbClr val="697480"/>
                </a:solidFill>
                <a:latin typeface="Arial"/>
              </a:defRPr>
            </a:pPr>
            <a:r>
              <a:t>AI disclosure, intended use, affected workflow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975104"/>
            <a:ext cx="0" cy="201168"/>
          </a:xfrm>
          <a:prstGeom prst="line">
            <a:avLst/>
          </a:prstGeom>
          <a:ln w="20320">
            <a:solidFill>
              <a:srgbClr val="2F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2194560"/>
            <a:ext cx="4892040" cy="713232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194560"/>
            <a:ext cx="47091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194560"/>
            <a:ext cx="4892040" cy="713232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359152"/>
            <a:ext cx="439826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1">
                <a:solidFill>
                  <a:srgbClr val="242A34"/>
                </a:solidFill>
                <a:latin typeface="Arial"/>
              </a:defRPr>
            </a:pPr>
            <a:r>
              <a:t>Data + contract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724912"/>
            <a:ext cx="4361688" cy="5486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30" b="0">
                <a:solidFill>
                  <a:srgbClr val="697480"/>
                </a:solidFill>
                <a:latin typeface="Arial"/>
              </a:defRPr>
            </a:pPr>
            <a:r>
              <a:t>Data handling, retention, training rights, exit terms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2907791"/>
            <a:ext cx="0" cy="201169"/>
          </a:xfrm>
          <a:prstGeom prst="line">
            <a:avLst/>
          </a:prstGeom>
          <a:ln w="20320">
            <a:solidFill>
              <a:srgbClr val="26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127248"/>
            <a:ext cx="4892040" cy="713232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127248"/>
            <a:ext cx="47091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127248"/>
            <a:ext cx="4892040" cy="713232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291840"/>
            <a:ext cx="439826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1">
                <a:solidFill>
                  <a:srgbClr val="242A34"/>
                </a:solidFill>
                <a:latin typeface="Arial"/>
              </a:defRPr>
            </a:pPr>
            <a:r>
              <a:t>Sandbox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657600"/>
            <a:ext cx="4361688" cy="5486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30" b="0">
                <a:solidFill>
                  <a:srgbClr val="697480"/>
                </a:solidFill>
                <a:latin typeface="Arial"/>
              </a:defRPr>
            </a:pPr>
            <a:r>
              <a:t>Reliability, privacy, security, explainability, misuse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3840480"/>
            <a:ext cx="0" cy="201168"/>
          </a:xfrm>
          <a:prstGeom prst="line">
            <a:avLst/>
          </a:prstGeom>
          <a:ln w="20320">
            <a:solidFill>
              <a:srgbClr val="D5A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4059935"/>
            <a:ext cx="4892040" cy="713232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059935"/>
            <a:ext cx="47091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059935"/>
            <a:ext cx="4892040" cy="713232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224527"/>
            <a:ext cx="439826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1">
                <a:solidFill>
                  <a:srgbClr val="242A34"/>
                </a:solidFill>
                <a:latin typeface="Arial"/>
              </a:defRPr>
            </a:pPr>
            <a:r>
              <a:t>Review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590288"/>
            <a:ext cx="4361688" cy="5486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30" b="0">
                <a:solidFill>
                  <a:srgbClr val="697480"/>
                </a:solidFill>
                <a:latin typeface="Arial"/>
              </a:defRPr>
            </a:pPr>
            <a:r>
              <a:t>Approve, reject, or require contractual/technical controls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46120" y="4773168"/>
            <a:ext cx="0" cy="201168"/>
          </a:xfrm>
          <a:prstGeom prst="line">
            <a:avLst/>
          </a:prstGeom>
          <a:ln w="20320">
            <a:solidFill>
              <a:srgbClr val="538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4992624"/>
            <a:ext cx="4892040" cy="713232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4992624"/>
            <a:ext cx="4709159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992624"/>
            <a:ext cx="4892040" cy="713232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157216"/>
            <a:ext cx="439826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1">
                <a:solidFill>
                  <a:srgbClr val="242A34"/>
                </a:solidFill>
                <a:latin typeface="Arial"/>
              </a:defRPr>
            </a:pPr>
            <a:r>
              <a:t>Ongoing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522976"/>
            <a:ext cx="4361688" cy="5486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30" b="0">
                <a:solidFill>
                  <a:srgbClr val="697480"/>
                </a:solidFill>
                <a:latin typeface="Arial"/>
              </a:defRPr>
            </a:pPr>
            <a:r>
              <a:t>Monitoring, renewal review, incident and offboarding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417320"/>
            <a:ext cx="44805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000" b="1">
                <a:solidFill>
                  <a:srgbClr val="121F30"/>
                </a:solidFill>
                <a:latin typeface="Arial"/>
              </a:defRPr>
            </a:pPr>
            <a:r>
              <a:t>Vendor red 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2057400"/>
            <a:ext cx="4343400" cy="2560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242A34"/>
                </a:solidFill>
                <a:latin typeface="Arial"/>
              </a:defRPr>
            </a:pPr>
            <a:r>
              <a:t>unclear model/data provenance</a:t>
            </a:r>
          </a:p>
          <a:p>
            <a:pPr>
              <a:spcAft>
                <a:spcPts val="500"/>
              </a:spcAft>
              <a:defRPr sz="1320">
                <a:solidFill>
                  <a:srgbClr val="242A34"/>
                </a:solidFill>
                <a:latin typeface="Arial"/>
              </a:defRPr>
            </a:pPr>
            <a:r>
              <a:t>customer data used for training by default</a:t>
            </a:r>
          </a:p>
          <a:p>
            <a:pPr>
              <a:spcAft>
                <a:spcPts val="500"/>
              </a:spcAft>
              <a:defRPr sz="1320">
                <a:solidFill>
                  <a:srgbClr val="242A34"/>
                </a:solidFill>
                <a:latin typeface="Arial"/>
              </a:defRPr>
            </a:pPr>
            <a:r>
              <a:t>no reliability or bias testing evidence</a:t>
            </a:r>
          </a:p>
          <a:p>
            <a:pPr>
              <a:spcAft>
                <a:spcPts val="500"/>
              </a:spcAft>
              <a:defRPr sz="1320">
                <a:solidFill>
                  <a:srgbClr val="242A34"/>
                </a:solidFill>
                <a:latin typeface="Arial"/>
              </a:defRPr>
            </a:pPr>
            <a:r>
              <a:t>no meaningful explanation or audit trail</a:t>
            </a:r>
          </a:p>
          <a:p>
            <a:pPr>
              <a:spcAft>
                <a:spcPts val="500"/>
              </a:spcAft>
              <a:defRPr sz="1320">
                <a:solidFill>
                  <a:srgbClr val="242A34"/>
                </a:solidFill>
                <a:latin typeface="Arial"/>
              </a:defRPr>
            </a:pPr>
            <a:r>
              <a:t>no incident reporting or exit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074920"/>
            <a:ext cx="434340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500" b="1">
                <a:solidFill>
                  <a:srgbClr val="2F66AA"/>
                </a:solidFill>
                <a:latin typeface="Arial"/>
              </a:defRPr>
            </a:pPr>
            <a:r>
              <a:t>Procurement principle: buying AI does not outsource accountability.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Santa Clara University, n.d.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12-Month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A practical first-year path from charter to audited scorecard.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2F66AA"/>
                </a:solidFill>
                <a:latin typeface="Arial"/>
              </a:defRPr>
            </a:pPr>
            <a:r>
              <a:t>M1-2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627632" cy="237744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Charter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Name CTO owner; approve RAI charter; inventory AI 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980944"/>
            <a:ext cx="237744" cy="0"/>
          </a:xfrm>
          <a:prstGeom prst="line">
            <a:avLst/>
          </a:prstGeom>
          <a:ln w="20320">
            <a:solidFill>
              <a:srgbClr val="2F6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60320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269196"/>
                </a:solidFill>
                <a:latin typeface="Arial"/>
              </a:defRPr>
            </a:pPr>
            <a:r>
              <a:t>M3-4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1783080"/>
            <a:ext cx="1627632" cy="237744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60320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Form committee; define risk tiers; create intake templates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87952" y="2980944"/>
            <a:ext cx="237744" cy="0"/>
          </a:xfrm>
          <a:prstGeom prst="line">
            <a:avLst/>
          </a:prstGeom>
          <a:ln w="20320">
            <a:solidFill>
              <a:srgbClr val="269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62272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D5A244"/>
                </a:solidFill>
                <a:latin typeface="Arial"/>
              </a:defRPr>
            </a:pPr>
            <a:r>
              <a:t>M5-6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1783080"/>
            <a:ext cx="1627632" cy="237744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5152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62272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Pilot internal vetting on API mapping and anomaly detection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9904" y="2980944"/>
            <a:ext cx="237744" cy="0"/>
          </a:xfrm>
          <a:prstGeom prst="line">
            <a:avLst/>
          </a:prstGeom>
          <a:ln w="20320">
            <a:solidFill>
              <a:srgbClr val="D5A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64224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538B60"/>
                </a:solidFill>
                <a:latin typeface="Arial"/>
              </a:defRPr>
            </a:pPr>
            <a:r>
              <a:t>M7-8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1783080"/>
            <a:ext cx="1627632" cy="237744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47104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64224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Launch vendor process and staff training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91856" y="2980944"/>
            <a:ext cx="237744" cy="0"/>
          </a:xfrm>
          <a:prstGeom prst="line">
            <a:avLst/>
          </a:prstGeom>
          <a:ln w="20320">
            <a:solidFill>
              <a:srgbClr val="538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66176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AB554B"/>
                </a:solidFill>
                <a:latin typeface="Arial"/>
              </a:defRPr>
            </a:pPr>
            <a:r>
              <a:t>M9-10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6176" y="1783080"/>
            <a:ext cx="1627632" cy="2377440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9056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66176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13648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Deploy dashboard, incident workflow, explanation templates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893808" y="2980944"/>
            <a:ext cx="237744" cy="0"/>
          </a:xfrm>
          <a:prstGeom prst="line">
            <a:avLst/>
          </a:prstGeom>
          <a:ln w="20320">
            <a:solidFill>
              <a:srgbClr val="AB5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168128" y="1417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705BA8"/>
                </a:solidFill>
                <a:latin typeface="Arial"/>
              </a:defRPr>
            </a:pPr>
            <a:r>
              <a:t>M11-12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68128" y="1783080"/>
            <a:ext cx="1627632" cy="2377440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51008" y="1783080"/>
            <a:ext cx="1444752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68128" y="1783080"/>
            <a:ext cx="1627632" cy="2377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1947672"/>
            <a:ext cx="1133856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80" b="1">
                <a:solidFill>
                  <a:srgbClr val="242A34"/>
                </a:solidFill>
                <a:latin typeface="Arial"/>
              </a:defRPr>
            </a:pPr>
            <a:r>
              <a:t>Improve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313432"/>
            <a:ext cx="1097280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40" b="0">
                <a:solidFill>
                  <a:srgbClr val="697480"/>
                </a:solidFill>
                <a:latin typeface="Arial"/>
              </a:defRPr>
            </a:pPr>
            <a:r>
              <a:t>Audit outcomes; refine KPIs; publish internal scorecard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074920"/>
            <a:ext cx="104241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420" b="1">
                <a:solidFill>
                  <a:srgbClr val="121F30"/>
                </a:solidFill>
                <a:latin typeface="Arial"/>
              </a:defRPr>
            </a:pPr>
            <a:r>
              <a:t>By month 12, every AI system should have an owner, risk tier, evidence record, monitoring plan, and review history.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NIST, 2023.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KPIs Aligned to Nexora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Actionable KPIs measure adoption and ethical performance, not abstract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972800" cy="4178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580644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45720" marB="36576">
                    <a:solidFill>
                      <a:srgbClr val="121F3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Reliability &amp; safety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AI-caused Sev1/Sev2 incidents; recommendation precision; rollback rate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0 Sev1; precision threshold met before launch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Privacy &amp; data stewardship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Privacy review coverage; unauthorized third-party training incidents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100% review; 0 unauthorized training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Explainability &amp; transparency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Recommendations with explanation and confidence signal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95%+ for customer-facing AI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Human accountability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Production-impacting AI actions with named human approval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100% before production change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Fairness &amp; inclusive impact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Subgroup/service-quality deltas reviewed where applicable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Reviewed before medium/high-risk release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242A34"/>
                          </a:solidFill>
                          <a:latin typeface="Arial"/>
                        </a:rPr>
                        <a:t>Lifecycle governance</a:t>
                      </a:r>
                    </a:p>
                  </a:txBody>
                  <a:tcPr marL="64008" marR="64008" marT="45720" marB="36576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AI systems inventoried, risk-tiered, monitored, owner-assigned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4"/>
                          </a:solidFill>
                          <a:latin typeface="Arial"/>
                        </a:rPr>
                        <a:t>100% inventory and named owner</a:t>
                      </a:r>
                    </a:p>
                  </a:txBody>
                  <a:tcPr marL="64008" marR="64008" marT="45720" marB="36576">
                    <a:solidFill>
                      <a:srgbClr val="E6EF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77900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10" b="1">
                <a:solidFill>
                  <a:srgbClr val="121F30"/>
                </a:solidFill>
                <a:latin typeface="Arial"/>
              </a:defRPr>
            </a:pPr>
            <a:r>
              <a:t>KPI rule: every metric has a named owner, monthly review cadence, target threshold, and escalation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9904"/>
            <a:ext cx="1051560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060" b="1">
                <a:solidFill>
                  <a:srgbClr val="2F66AA"/>
                </a:solidFill>
                <a:latin typeface="Arial"/>
              </a:defRPr>
            </a:pPr>
            <a:r>
              <a:t>Chapter 6 best practice: measure both program adoption and whether concrete ethical commitments are reducing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Blackman, 2022.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Conclusion: Ethics Becomes Operating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Nexora's RAI framework converts principles into repeatable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424160" cy="6858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400" b="1">
                <a:solidFill>
                  <a:srgbClr val="121F30"/>
                </a:solidFill>
                <a:latin typeface="Arial"/>
              </a:defRPr>
            </a:pPr>
            <a:r>
              <a:t>The 1.3 ethics statement becomes credible only when it is backed by ownership, review authority, workflows, and measurable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4800600" cy="93268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46177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48006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907792"/>
            <a:ext cx="43068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Executive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273552"/>
            <a:ext cx="42702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30" b="0">
                <a:solidFill>
                  <a:srgbClr val="697480"/>
                </a:solidFill>
                <a:latin typeface="Arial"/>
              </a:defRPr>
            </a:pPr>
            <a:r>
              <a:t>The CTO owns the program and reports progress through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4800600" cy="932688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46177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48006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907792"/>
            <a:ext cx="43068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Expert oversight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273552"/>
            <a:ext cx="42702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30" b="0">
                <a:solidFill>
                  <a:srgbClr val="697480"/>
                </a:solidFill>
                <a:latin typeface="Arial"/>
              </a:defRPr>
            </a:pPr>
            <a:r>
              <a:t>The AI Ethics Committee handles gray areas and high-risk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41648"/>
            <a:ext cx="4800600" cy="932688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4041648"/>
            <a:ext cx="46177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041648"/>
            <a:ext cx="48006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206240"/>
            <a:ext cx="43068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Embedded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72000"/>
            <a:ext cx="42702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30" b="0">
                <a:solidFill>
                  <a:srgbClr val="697480"/>
                </a:solidFill>
                <a:latin typeface="Arial"/>
              </a:defRPr>
            </a:pPr>
            <a:r>
              <a:t>Internal and external AI products pass through documented risk gates.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41648"/>
            <a:ext cx="4800600" cy="932688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041648"/>
            <a:ext cx="461772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4041648"/>
            <a:ext cx="4800600" cy="93268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206240"/>
            <a:ext cx="43068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Closed-loop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572000"/>
            <a:ext cx="4270248" cy="2743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30" b="0">
                <a:solidFill>
                  <a:srgbClr val="697480"/>
                </a:solidFill>
                <a:latin typeface="Arial"/>
              </a:defRPr>
            </a:pPr>
            <a:r>
              <a:t>Monitoring, incidents, audits, and customer feedback update the framework.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42432"/>
            <a:ext cx="10424160" cy="3657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450" b="1">
                <a:solidFill>
                  <a:srgbClr val="2F66AA"/>
                </a:solidFill>
                <a:latin typeface="Arial"/>
              </a:defRPr>
            </a:pPr>
            <a:r>
              <a:t>RAI at Nexora is not a statement on a slide; it is a management system for safer AI adoption.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NIST, 2023.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500" b="1">
                <a:solidFill>
                  <a:srgbClr val="242A3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Sources used for the RAI organization, vetting process, timeline, and KPI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800" b="0">
                <a:solidFill>
                  <a:srgbClr val="919BAA"/>
                </a:solidFill>
                <a:latin typeface="Arial"/>
              </a:defRPr>
            </a:pPr>
            <a:r>
              <a:t>AIML-510 | Workshop 1 | RAI Framework Project Introduction |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600" b="1">
                <a:solidFill>
                  <a:srgbClr val="2F66AA"/>
                </a:solidFill>
                <a:latin typeface="Arial"/>
              </a:defRPr>
            </a:pPr>
            <a:r>
              <a:t>Course and framework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10515600" cy="22402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500"/>
              </a:spcAft>
              <a:defRPr sz="890">
                <a:solidFill>
                  <a:srgbClr val="242A34"/>
                </a:solidFill>
                <a:latin typeface="Arial"/>
              </a:defRPr>
            </a:pPr>
            <a:r>
              <a:t>Blackman, R. (2022). Ethical machines: Your concise guide to totally unbiased, transparent, and respectful AI. Harvard Business Review Press. Chapter 6.</a:t>
            </a:r>
          </a:p>
          <a:p>
            <a:pPr>
              <a:spcAft>
                <a:spcPts val="500"/>
              </a:spcAft>
              <a:defRPr sz="890">
                <a:solidFill>
                  <a:srgbClr val="242A34"/>
                </a:solidFill>
                <a:latin typeface="Arial"/>
              </a:defRPr>
            </a:pPr>
            <a:r>
              <a:t>National Institute of Standards and Technology. (2023). Artificial intelligence risk management framework (AI RMF 1.0) (NIST AI 100-1). U.S. Department of Commerce. https://doi.org/10.6028/NIST.AI.100-1</a:t>
            </a:r>
          </a:p>
          <a:p>
            <a:pPr>
              <a:spcAft>
                <a:spcPts val="500"/>
              </a:spcAft>
              <a:defRPr sz="890">
                <a:solidFill>
                  <a:srgbClr val="242A34"/>
                </a:solidFill>
                <a:latin typeface="Arial"/>
              </a:defRPr>
            </a:pPr>
            <a:r>
              <a:t>Santa Clara University, Markkula Center for Applied Ethics. (n.d.). An ethical toolkit for engineering/design practice. Retrieved May 15, 2026, from https://www.scu.edu/ethics-in-technology-practice/ethical-toolkit/</a:t>
            </a:r>
          </a:p>
          <a:p>
            <a:pPr>
              <a:spcAft>
                <a:spcPts val="500"/>
              </a:spcAft>
              <a:defRPr sz="890">
                <a:solidFill>
                  <a:srgbClr val="242A34"/>
                </a:solidFill>
                <a:latin typeface="Arial"/>
              </a:defRPr>
            </a:pPr>
            <a:r>
              <a:t>OpenAI. (2026). ChatGPT (May 15 version) [Large language model]. https://chatgpt.com/</a:t>
            </a:r>
          </a:p>
          <a:p>
            <a:pPr>
              <a:spcAft>
                <a:spcPts val="500"/>
              </a:spcAft>
              <a:defRPr sz="890">
                <a:solidFill>
                  <a:srgbClr val="242A34"/>
                </a:solidFill>
                <a:latin typeface="Arial"/>
              </a:defRPr>
            </a:pPr>
            <a:r>
              <a:t>AIML-510 Assignment 1.3 Nexora Systems case study and ethical principles.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224528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600" b="1">
                <a:solidFill>
                  <a:srgbClr val="D5A244"/>
                </a:solidFill>
                <a:latin typeface="Arial"/>
              </a:defRPr>
            </a:pPr>
            <a:r>
              <a:t>Company context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45152"/>
            <a:ext cx="10515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242A34"/>
                </a:solidFill>
                <a:latin typeface="Arial"/>
              </a:defRPr>
            </a:pPr>
            <a:r>
              <a:t>Nexora Systems is the fictional enterprise SaaS case study developed for this course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