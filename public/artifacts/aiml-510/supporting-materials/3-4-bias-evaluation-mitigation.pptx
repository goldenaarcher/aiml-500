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7680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500" b="1">
                <a:solidFill>
                  <a:srgbClr val="2F66AA"/>
                </a:solidFill>
                <a:latin typeface="Arial"/>
              </a:defRPr>
            </a:pPr>
            <a:r>
              <a:t>AIML-510 Assignment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91440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3200" b="1">
                <a:solidFill>
                  <a:srgbClr val="242A34"/>
                </a:solidFill>
                <a:latin typeface="Arial"/>
              </a:defRPr>
            </a:pPr>
            <a:r>
              <a:t>RAI Framework Project Design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523744"/>
            <a:ext cx="8321040" cy="512064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700" b="0">
                <a:solidFill>
                  <a:srgbClr val="697480"/>
                </a:solidFill>
                <a:latin typeface="Arial"/>
              </a:defRPr>
            </a:pPr>
            <a:r>
              <a:t>Nexora Systems: identifying, testing, and managing bias before AI recommendations affect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675887"/>
            <a:ext cx="3246120" cy="123444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675887"/>
            <a:ext cx="3044951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3675887"/>
            <a:ext cx="324612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822191"/>
            <a:ext cx="273405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187952"/>
            <a:ext cx="2697479" cy="6126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Bias risks in data, algorithms, testing, and organizational oversight.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3675887"/>
            <a:ext cx="3246120" cy="123444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5696" y="3675887"/>
            <a:ext cx="3044951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24528" y="3675887"/>
            <a:ext cx="324612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822191"/>
            <a:ext cx="273405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Primary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187952"/>
            <a:ext cx="2697479" cy="6126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NIST SP 1270 frames AI bias as a socio-technical lifecycle issue.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3675887"/>
            <a:ext cx="3246120" cy="123444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2" y="3675887"/>
            <a:ext cx="3044951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35824" y="3675887"/>
            <a:ext cx="324612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4" y="3822191"/>
            <a:ext cx="273405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4" y="4187952"/>
            <a:ext cx="2697479" cy="6126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Charts for sources of bias, mitigations, monitoring, and trust activities.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Sources: Han, 2026; Schwartz et al., 2022.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Company Overview: Why Bias Management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60" b="0">
                <a:solidFill>
                  <a:srgbClr val="697480"/>
                </a:solidFill>
                <a:latin typeface="Arial"/>
              </a:defRPr>
            </a:pPr>
            <a:r>
              <a:t>The same fictional company from Assignment 1.3, now viewed through fairness and bias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553212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050" b="1">
                <a:solidFill>
                  <a:srgbClr val="121F30"/>
                </a:solidFill>
                <a:latin typeface="Arial"/>
              </a:defRPr>
            </a:pPr>
            <a:r>
              <a:t>Nexora Systems is a 300-person enterprise SaaS company whose platform supports sensitive, real-time customer integrations.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5349240" cy="2697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242A34"/>
                </a:solidFill>
                <a:latin typeface="Arial"/>
              </a:defRPr>
            </a:pPr>
            <a:r>
              <a:t>Serves fintech, healthcare, and logistics customers.</a:t>
            </a:r>
          </a:p>
          <a:p>
            <a:pPr>
              <a:spcAft>
                <a:spcPts val="600"/>
              </a:spcAft>
              <a:defRPr sz="1230">
                <a:solidFill>
                  <a:srgbClr val="242A34"/>
                </a:solidFill>
                <a:latin typeface="Arial"/>
              </a:defRPr>
            </a:pPr>
            <a:r>
              <a:t>Handles production data flows where bad recommendations can create customer harm.</a:t>
            </a:r>
          </a:p>
          <a:p>
            <a:pPr>
              <a:spcAft>
                <a:spcPts val="600"/>
              </a:spcAft>
              <a:defRPr sz="1230">
                <a:solidFill>
                  <a:srgbClr val="242A34"/>
                </a:solidFill>
                <a:latin typeface="Arial"/>
              </a:defRPr>
            </a:pPr>
            <a:r>
              <a:t>AI output may affect routing, alerts, cost, uptime, and operational decisions.</a:t>
            </a:r>
          </a:p>
          <a:p>
            <a:pPr>
              <a:spcAft>
                <a:spcPts val="600"/>
              </a:spcAft>
              <a:defRPr sz="1230">
                <a:solidFill>
                  <a:srgbClr val="242A34"/>
                </a:solidFill>
                <a:latin typeface="Arial"/>
              </a:defRPr>
            </a:pPr>
            <a:r>
              <a:t>Bias management must include both model behavior and human/process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43584"/>
            <a:ext cx="4343400" cy="123444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30568" y="1243584"/>
            <a:ext cx="41422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243584"/>
            <a:ext cx="434340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389888"/>
            <a:ext cx="38313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1755648"/>
            <a:ext cx="3794760" cy="6126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A 30-person technology group can support formal review gates, documentation, and monitoring.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834640"/>
            <a:ext cx="4343400" cy="123444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30568" y="2834640"/>
            <a:ext cx="41422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2834640"/>
            <a:ext cx="434340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59" y="2980944"/>
            <a:ext cx="38313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3346704"/>
            <a:ext cx="3794760" cy="6126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Customer data crosses regulated and operationally sensitive contexts.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425696"/>
            <a:ext cx="4343400" cy="123444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0568" y="4425696"/>
            <a:ext cx="41422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425696"/>
            <a:ext cx="434340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59" y="4572000"/>
            <a:ext cx="38313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RAI need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4937760"/>
            <a:ext cx="3794760" cy="6126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Bias controls should exist before AI recommendations enter production workflows.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Sources: Han, 2026; Schwartz et al., 2022.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AI Use Cases Under Consideration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60" b="0">
                <a:solidFill>
                  <a:srgbClr val="697480"/>
                </a:solidFill>
                <a:latin typeface="Arial"/>
              </a:defRPr>
            </a:pPr>
            <a:r>
              <a:t>Nexora should keep early AI assistive until fairness, reliability, and governance evidence are mature.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4983480" cy="150876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" y="1325880"/>
            <a:ext cx="4782312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325880"/>
            <a:ext cx="4983480" cy="150876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472184"/>
            <a:ext cx="447141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Auto-suggest API mappings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837943"/>
            <a:ext cx="4434840" cy="88696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Recommend field mappings and transformations for implementation teams; humans approve before production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25880"/>
            <a:ext cx="4983480" cy="150876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37376" y="1325880"/>
            <a:ext cx="4782312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325880"/>
            <a:ext cx="4983480" cy="150876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472184"/>
            <a:ext cx="447141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837943"/>
            <a:ext cx="4434840" cy="88696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Flag unusual data flows, latency spikes, schema drift, and suspicious patterns in integration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474720"/>
            <a:ext cx="4983480" cy="150876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" y="3474720"/>
            <a:ext cx="4782312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3474720"/>
            <a:ext cx="4983480" cy="150876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621024"/>
            <a:ext cx="447141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Predictive failure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986783"/>
            <a:ext cx="4434840" cy="88696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Predict outage risk and recommend routing or retry options before customers experience disruption.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474720"/>
            <a:ext cx="4983480" cy="1508760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37376" y="3474720"/>
            <a:ext cx="4782312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8" y="3474720"/>
            <a:ext cx="4983480" cy="150876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621024"/>
            <a:ext cx="447141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Workflow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986783"/>
            <a:ext cx="4434840" cy="886967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Suggest process simplification, cost reductions, and monitoring changes for customer operations teams.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71500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1300" b="1">
                <a:solidFill>
                  <a:srgbClr val="121F30"/>
                </a:solidFill>
                <a:latin typeface="Arial"/>
              </a:defRPr>
            </a:pPr>
            <a:r>
              <a:t>Guardrail: AI may recommend actions, but customer-impacting production changes require human approval until evidence supports narrower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Source: Han,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Data Sources, Bias Risks,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60" b="0">
                <a:solidFill>
                  <a:srgbClr val="697480"/>
                </a:solidFill>
                <a:latin typeface="Arial"/>
              </a:defRPr>
            </a:pPr>
            <a:r>
              <a:t>Bias can enter before modeling starts, especially when historical records do not represent all customers equally.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16152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063240"/>
                <a:gridCol w="35661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Use case</a:t>
                      </a:r>
                    </a:p>
                  </a:txBody>
                  <a:tcPr marL="64008" marR="64008" marT="45720" marB="45720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Data sources</a:t>
                      </a:r>
                    </a:p>
                  </a:txBody>
                  <a:tcPr marL="64008" marR="64008" marT="45720" marB="45720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Potential bias</a:t>
                      </a:r>
                    </a:p>
                  </a:txBody>
                  <a:tcPr marL="64008" marR="64008" marT="45720" marB="45720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64008" marR="64008" marT="45720" marB="45720">
                    <a:solidFill>
                      <a:srgbClr val="121F3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42A34"/>
                          </a:solidFill>
                          <a:latin typeface="Arial"/>
                        </a:rPr>
                        <a:t>API mapping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Prior mapping projects, schema metadata, tickets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Overfits common customer stacks; misses small or unusual systems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Coverage checks by customer size, industry, and integration type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42A34"/>
                          </a:solidFill>
                          <a:latin typeface="Arial"/>
                        </a:rPr>
                        <a:t>Anomaly detection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Telemetry, logs, incident history, support data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Past incidents reflect reporting gaps or noisy customers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Label review, subgroup false-alert tracking, customer-segment baselines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42A34"/>
                          </a:solidFill>
                          <a:latin typeface="Arial"/>
                        </a:rPr>
                        <a:t>Failure routing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Uptime data, retry outcomes, capacity signals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Optimizes for largest customers or historically prioritized routes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Business-impact review plus fairness checks across customer tiers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42A34"/>
                          </a:solidFill>
                          <a:latin typeface="Arial"/>
                        </a:rPr>
                        <a:t>Workflow optimization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Usage patterns, cost data, admin actions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Proxy bias from region, maturity, or customer resources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42A34"/>
                          </a:solidFill>
                          <a:latin typeface="Arial"/>
                        </a:rPr>
                        <a:t>Remove weak proxies, require human review, monitor benefit distribution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70448"/>
            <a:ext cx="10652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1210" b="1">
                <a:solidFill>
                  <a:srgbClr val="121F30"/>
                </a:solidFill>
                <a:latin typeface="Arial"/>
              </a:defRPr>
            </a:pPr>
            <a:r>
              <a:t>Nexora rule: every model intake must include data coverage, label quality, proxy-risk, and customer-segment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Source: Schwartz et al., 2022.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Algorithmic Bias Risks and Proposed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60" b="0">
                <a:solidFill>
                  <a:srgbClr val="697480"/>
                </a:solidFill>
                <a:latin typeface="Arial"/>
              </a:defRPr>
            </a:pPr>
            <a:r>
              <a:t>A model can look accurate overall while still creating uneven error patterns for specific groups.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70432"/>
          <a:ext cx="10972800" cy="4645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572000"/>
                <a:gridCol w="41605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Bias source</a:t>
                      </a:r>
                    </a:p>
                  </a:txBody>
                  <a:tcPr marL="64008" marR="64008" marT="45720" marB="45720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How it could show up at Nexora</a:t>
                      </a:r>
                    </a:p>
                  </a:txBody>
                  <a:tcPr marL="64008" marR="64008" marT="45720" marB="45720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64008" marR="64008" marT="45720" marB="45720">
                    <a:solidFill>
                      <a:srgbClr val="121F3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242A34"/>
                          </a:solidFill>
                          <a:latin typeface="Arial"/>
                        </a:rPr>
                        <a:t>Objective mismatch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The model optimizes ticket closure, cost, or speed while missing fairness or service reliability.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Define fairness and customer-impact metrics before training.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242A34"/>
                          </a:solidFill>
                          <a:latin typeface="Arial"/>
                        </a:rPr>
                        <a:t>Feature/proxy bias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Region, account age, traffic volume, or customer tier acts as a proxy for protected or disadvantaged groups.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Run proxy review, ablation tests, and stakeholder review.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242A34"/>
                          </a:solidFill>
                          <a:latin typeface="Arial"/>
                        </a:rPr>
                        <a:t>Threshold bias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Alert thresholds produce more false positives for one customer segment.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Evaluate thresholds by subgroup; require exception review before release.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242A34"/>
                          </a:solidFill>
                          <a:latin typeface="Arial"/>
                        </a:rPr>
                        <a:t>Evaluation bias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Test sets reflect high-volume customers but not edge cases or smaller customers.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Use stratified test sets and scenario-based validation.</a:t>
                      </a:r>
                    </a:p>
                  </a:txBody>
                  <a:tcPr marL="64008" marR="64008" marT="45720" marB="45720">
                    <a:solidFill>
                      <a:srgbClr val="E6EF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242A34"/>
                          </a:solidFill>
                          <a:latin typeface="Arial"/>
                        </a:rPr>
                        <a:t>Automation bias</a:t>
                      </a:r>
                    </a:p>
                  </a:txBody>
                  <a:tcPr marL="64008" marR="64008" marT="45720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Teams over-trust recommendations because the UI presents them as authoritative.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42A34"/>
                          </a:solidFill>
                          <a:latin typeface="Arial"/>
                        </a:rPr>
                        <a:t>Show confidence, rationale, limits, and require human approval gates.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916168"/>
            <a:ext cx="103327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1200" b="1">
                <a:solidFill>
                  <a:srgbClr val="121F30"/>
                </a:solidFill>
                <a:latin typeface="Arial"/>
              </a:defRPr>
            </a:pPr>
            <a:r>
              <a:t>Overall accuracy is not enough. Nexora needs subgroup error rates, false-alert rates, override rates, and incident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Source: Schwartz et al., 2022.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Testing, Validation, and Monitoring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60" b="0">
                <a:solidFill>
                  <a:srgbClr val="697480"/>
                </a:solidFill>
                <a:latin typeface="Arial"/>
              </a:defRPr>
            </a:pPr>
            <a:r>
              <a:t>Bias management has to continue across the full AI lifecycle, not only before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63039"/>
            <a:ext cx="384048" cy="384048"/>
          </a:xfrm>
          <a:prstGeom prst="ellipse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63039"/>
            <a:ext cx="2606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764792"/>
            <a:ext cx="260604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Classify risk, affected stakeholders, data sensitivity, and required fairness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463039"/>
            <a:ext cx="384048" cy="384048"/>
          </a:xfrm>
          <a:prstGeom prst="ellipse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1463039"/>
            <a:ext cx="2606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Data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764792"/>
            <a:ext cx="260604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Check source coverage, label consistency, proxy variables, and missing segments.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42900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1463039"/>
            <a:ext cx="384048" cy="384048"/>
          </a:xfrm>
          <a:prstGeom prst="ellipse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1463039"/>
            <a:ext cx="2606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Pre-release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1764792"/>
            <a:ext cx="260604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Measure subgroup performance, false positives/negatives, robustness, and edge cases.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91839"/>
            <a:ext cx="342900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428999"/>
            <a:ext cx="384048" cy="384048"/>
          </a:xfrm>
          <a:prstGeom prst="ellipse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428999"/>
            <a:ext cx="2606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Pilot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730752"/>
            <a:ext cx="260604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Run limited deployment with human approval, customer feedback, and incident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91839"/>
            <a:ext cx="342900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3428999"/>
            <a:ext cx="384048" cy="384048"/>
          </a:xfrm>
          <a:prstGeom prst="ellipse">
            <a:avLst/>
          </a:prstGeom>
          <a:solidFill>
            <a:srgbClr val="A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3428999"/>
            <a:ext cx="2606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3730752"/>
            <a:ext cx="260604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Track drift, alert quality, overrides, customer complaints, and fairness metrics.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291839"/>
            <a:ext cx="342900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66760" y="3428999"/>
            <a:ext cx="384048" cy="384048"/>
          </a:xfrm>
          <a:prstGeom prst="ellipse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3428999"/>
            <a:ext cx="260604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3730752"/>
            <a:ext cx="260604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Retrain, roll back, limit scope, or retire systems when thresholds fail.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15000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1280" b="1">
                <a:solidFill>
                  <a:srgbClr val="121F30"/>
                </a:solidFill>
                <a:latin typeface="Arial"/>
              </a:defRPr>
            </a:pPr>
            <a:r>
              <a:t>Release gate: no customer-impacting AI feature ships unless owner, metric, threshold, rollback plan, and review cadence are documented.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Sources: Han, 2026; Schwartz et al.,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Other Tools, Processes, and Engagement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60" b="0">
                <a:solidFill>
                  <a:srgbClr val="697480"/>
                </a:solidFill>
                <a:latin typeface="Arial"/>
              </a:defRPr>
            </a:pPr>
            <a:r>
              <a:t>Trust in fairness improves when people can inspect, question, and challenge AI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3429000" cy="1335024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6" y="1325880"/>
            <a:ext cx="3227832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429000" cy="1335024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472184"/>
            <a:ext cx="29169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Model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1837943"/>
            <a:ext cx="2880360" cy="7132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69" b="0">
                <a:solidFill>
                  <a:srgbClr val="697480"/>
                </a:solidFill>
                <a:latin typeface="Arial"/>
              </a:defRPr>
            </a:pPr>
            <a:r>
              <a:t>Purpose, limits, performance, fairness tests, and known failure modes.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325880"/>
            <a:ext cx="3429000" cy="1335024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4296" y="1325880"/>
            <a:ext cx="3227832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1325880"/>
            <a:ext cx="3429000" cy="1335024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472184"/>
            <a:ext cx="29169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Data 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837943"/>
            <a:ext cx="2880360" cy="7132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69" b="0">
                <a:solidFill>
                  <a:srgbClr val="697480"/>
                </a:solidFill>
                <a:latin typeface="Arial"/>
              </a:defRPr>
            </a:pPr>
            <a:r>
              <a:t>Data origin, coverage, exclusions, labeling process, and retention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325880"/>
            <a:ext cx="3429000" cy="1335024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49056" y="1325880"/>
            <a:ext cx="3227832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1325880"/>
            <a:ext cx="3429000" cy="1335024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1472184"/>
            <a:ext cx="29169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RAI review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1837943"/>
            <a:ext cx="2880360" cy="7132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69" b="0">
                <a:solidFill>
                  <a:srgbClr val="697480"/>
                </a:solidFill>
                <a:latin typeface="Arial"/>
              </a:defRPr>
            </a:pPr>
            <a:r>
              <a:t>Cross-functional review with product, engineering, security, legal, and customer success.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00400"/>
            <a:ext cx="3429000" cy="1335024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3200400"/>
            <a:ext cx="3227832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3200400"/>
            <a:ext cx="3429000" cy="1335024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7" y="3346704"/>
            <a:ext cx="29169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Customer disclosures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7" y="3712464"/>
            <a:ext cx="2880360" cy="7132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69" b="0">
                <a:solidFill>
                  <a:srgbClr val="697480"/>
                </a:solidFill>
                <a:latin typeface="Arial"/>
              </a:defRPr>
            </a:pPr>
            <a:r>
              <a:t>Clear notice when AI assists recommendations, alerts, or routing decisions.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3200400"/>
            <a:ext cx="3429000" cy="1335024"/>
          </a:xfrm>
          <a:prstGeom prst="roundRect">
            <a:avLst/>
          </a:prstGeom>
          <a:solidFill>
            <a:srgbClr val="A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54296" y="3200400"/>
            <a:ext cx="3227832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53128" y="3200400"/>
            <a:ext cx="3429000" cy="1335024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3346704"/>
            <a:ext cx="29169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Override and appeal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3712464"/>
            <a:ext cx="2880360" cy="7132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69" b="0">
                <a:solidFill>
                  <a:srgbClr val="697480"/>
                </a:solidFill>
                <a:latin typeface="Arial"/>
              </a:defRPr>
            </a:pPr>
            <a:r>
              <a:t>Admins can challenge recommendations and route issues to human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3200400"/>
            <a:ext cx="3429000" cy="1335024"/>
          </a:xfrm>
          <a:prstGeom prst="round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49056" y="3200400"/>
            <a:ext cx="3227832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47888" y="3200400"/>
            <a:ext cx="3429000" cy="1335024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3346704"/>
            <a:ext cx="2916936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Incident playbook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3712464"/>
            <a:ext cx="2880360" cy="713231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69" b="0">
                <a:solidFill>
                  <a:srgbClr val="697480"/>
                </a:solidFill>
                <a:latin typeface="Arial"/>
              </a:defRPr>
            </a:pPr>
            <a:r>
              <a:t>Escalation, rollback, communication, and post-incident learning.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742432"/>
            <a:ext cx="1042416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1250" b="1">
                <a:solidFill>
                  <a:srgbClr val="121F30"/>
                </a:solidFill>
                <a:latin typeface="Arial"/>
              </a:defRPr>
            </a:pPr>
            <a:r>
              <a:t>The key is practical recourse: if a customer believes the AI treated them unfairly, there must be a usable path to review and correction.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Source: Schwartz et al., 2022.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Concluding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88136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1060" b="0">
                <a:solidFill>
                  <a:srgbClr val="697480"/>
                </a:solidFill>
                <a:latin typeface="Arial"/>
              </a:defRPr>
            </a:pPr>
            <a:r>
              <a:t>The hard part is that bias is not only a data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5613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000" b="1">
                <a:solidFill>
                  <a:srgbClr val="121F30"/>
                </a:solidFill>
                <a:latin typeface="Arial"/>
              </a:defRPr>
            </a:pPr>
            <a:r>
              <a:t>The biggest challenge for me is separating model bias from the larger system around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241280" cy="2606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600"/>
              </a:spcAft>
              <a:defRPr sz="1340">
                <a:solidFill>
                  <a:srgbClr val="242A34"/>
                </a:solidFill>
                <a:latin typeface="Arial"/>
              </a:defRPr>
            </a:pPr>
            <a:r>
              <a:t>A model can pass a technical test and still create unfair outcomes if the business process rewards the wrong thing.</a:t>
            </a:r>
          </a:p>
          <a:p>
            <a:pPr>
              <a:spcAft>
                <a:spcPts val="600"/>
              </a:spcAft>
              <a:defRPr sz="1340">
                <a:solidFill>
                  <a:srgbClr val="242A34"/>
                </a:solidFill>
                <a:latin typeface="Arial"/>
              </a:defRPr>
            </a:pPr>
            <a:r>
              <a:t>For Nexora, I would not trust a single fairness score. I would want subgroup errors, customer complaints, override rates, and incident reviews together.</a:t>
            </a:r>
          </a:p>
          <a:p>
            <a:pPr>
              <a:spcAft>
                <a:spcPts val="600"/>
              </a:spcAft>
              <a:defRPr sz="1340">
                <a:solidFill>
                  <a:srgbClr val="242A34"/>
                </a:solidFill>
                <a:latin typeface="Arial"/>
              </a:defRPr>
            </a:pPr>
            <a:r>
              <a:t>The open question is how much evidence is enough before moving from assistive recommendations to more automated decisions.</a:t>
            </a:r>
          </a:p>
          <a:p>
            <a:pPr>
              <a:spcAft>
                <a:spcPts val="600"/>
              </a:spcAft>
              <a:defRPr sz="1340">
                <a:solidFill>
                  <a:srgbClr val="242A34"/>
                </a:solidFill>
                <a:latin typeface="Arial"/>
              </a:defRPr>
            </a:pPr>
            <a:r>
              <a:t>This matters because bias controls that do not change release decisions are just paperwork.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103327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ctr">
              <a:defRPr sz="1350" b="1">
                <a:solidFill>
                  <a:srgbClr val="2F66AA"/>
                </a:solidFill>
                <a:latin typeface="Arial"/>
              </a:defRPr>
            </a:pPr>
            <a:r>
              <a:t>My takeaway: fairness has to be owned like reliability. It needs metrics, alerts, owners, review gates, and rollback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Sources: Han, 2026; Schwartz et al., 2022.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3 | Bias Management Design |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10744200" cy="45262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242A34"/>
                </a:solidFill>
                <a:latin typeface="Arial"/>
              </a:defRPr>
            </a:pPr>
            <a:r>
              <a:t>Han, L. (2026). Nexora Systems case study from AIML-510 Assignment 1.3. Unpublished coursework.</a:t>
            </a:r>
          </a:p>
          <a:p>
            <a:pPr>
              <a:spcAft>
                <a:spcPts val="600"/>
              </a:spcAft>
              <a:defRPr sz="1220">
                <a:solidFill>
                  <a:srgbClr val="242A34"/>
                </a:solidFill>
                <a:latin typeface="Arial"/>
              </a:defRPr>
            </a:pPr>
            <a:r>
              <a:t>Schwartz, R., Vassilev, A., Greene, K. K., Perine, L., Burt, A., &amp; Hall, P. (2022). Towards a standard for identifying and managing bias in artificial intelligence (NIST Special Publication 1270). National Institute of Standards and Technology. https://doi.org/10.6028/NIST.SP.1270</a:t>
            </a:r>
          </a:p>
          <a:p>
            <a:pPr>
              <a:spcAft>
                <a:spcPts val="600"/>
              </a:spcAft>
              <a:defRPr sz="1220">
                <a:solidFill>
                  <a:srgbClr val="242A34"/>
                </a:solidFill>
                <a:latin typeface="Arial"/>
              </a:defRPr>
            </a:pPr>
            <a:r>
              <a:t>OpenAI. (2026). ChatGPT assisted with slide organization and wording refinement for this presentation. User reviewed and edited the final content.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 algn="r">
              <a:defRPr sz="670" b="0">
                <a:solidFill>
                  <a:srgbClr val="788291"/>
                </a:solidFill>
                <a:latin typeface="Arial"/>
              </a:defRPr>
            </a:pPr>
            <a:r>
              <a:t>Reference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