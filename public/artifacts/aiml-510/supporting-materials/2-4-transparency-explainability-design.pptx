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868680"/>
            <a:ext cx="7680960" cy="411480"/>
          </a:xfrm>
          <a:prstGeom prst="rect">
            <a:avLst/>
          </a:prstGeom>
          <a:noFill/>
        </p:spPr>
        <p:txBody>
          <a:bodyPr wrap="square" lIns="36576" rIns="36576" tIns="27432" bIns="27432">
            <a:normAutofit/>
          </a:bodyPr>
          <a:lstStyle/>
          <a:p>
            <a:pPr algn="l">
              <a:defRPr sz="1500" b="1">
                <a:solidFill>
                  <a:srgbClr val="2F66AA"/>
                </a:solidFill>
                <a:latin typeface="Arial"/>
              </a:defRPr>
            </a:pPr>
            <a:r>
              <a:t>AIML-510 Assignment 2.4</a:t>
            </a:r>
          </a:p>
        </p:txBody>
      </p:sp>
      <p:sp>
        <p:nvSpPr>
          <p:cNvPr id="4" name="TextBox 3"/>
          <p:cNvSpPr txBox="1"/>
          <p:nvPr/>
        </p:nvSpPr>
        <p:spPr>
          <a:xfrm>
            <a:off x="658368" y="1417320"/>
            <a:ext cx="8595360" cy="987552"/>
          </a:xfrm>
          <a:prstGeom prst="rect">
            <a:avLst/>
          </a:prstGeom>
          <a:noFill/>
        </p:spPr>
        <p:txBody>
          <a:bodyPr wrap="square" lIns="36576" rIns="36576" tIns="27432" bIns="27432">
            <a:normAutofit/>
          </a:bodyPr>
          <a:lstStyle/>
          <a:p>
            <a:pPr algn="l">
              <a:defRPr sz="3400" b="1">
                <a:solidFill>
                  <a:srgbClr val="242A34"/>
                </a:solidFill>
                <a:latin typeface="Arial"/>
              </a:defRPr>
            </a:pPr>
            <a:r>
              <a:t>Transparency and Explainability Design</a:t>
            </a:r>
          </a:p>
        </p:txBody>
      </p:sp>
      <p:sp>
        <p:nvSpPr>
          <p:cNvPr id="5" name="TextBox 4"/>
          <p:cNvSpPr txBox="1"/>
          <p:nvPr/>
        </p:nvSpPr>
        <p:spPr>
          <a:xfrm>
            <a:off x="694944" y="2487168"/>
            <a:ext cx="7955279" cy="457200"/>
          </a:xfrm>
          <a:prstGeom prst="rect">
            <a:avLst/>
          </a:prstGeom>
          <a:noFill/>
        </p:spPr>
        <p:txBody>
          <a:bodyPr wrap="square" lIns="36576" rIns="36576" tIns="27432" bIns="27432">
            <a:normAutofit/>
          </a:bodyPr>
          <a:lstStyle/>
          <a:p>
            <a:pPr algn="l">
              <a:defRPr sz="1800" b="0">
                <a:solidFill>
                  <a:srgbClr val="697480"/>
                </a:solidFill>
                <a:latin typeface="Arial"/>
              </a:defRPr>
            </a:pPr>
            <a:r>
              <a:t>Nexora Systems: applying RAI principles to product design decisions</a:t>
            </a:r>
          </a:p>
        </p:txBody>
      </p:sp>
      <p:sp>
        <p:nvSpPr>
          <p:cNvPr id="6" name="Rounded Rectangle 5"/>
          <p:cNvSpPr/>
          <p:nvPr/>
        </p:nvSpPr>
        <p:spPr>
          <a:xfrm>
            <a:off x="713232" y="3703320"/>
            <a:ext cx="3246120" cy="1143000"/>
          </a:xfrm>
          <a:prstGeom prst="roundRect">
            <a:avLst/>
          </a:prstGeom>
          <a:solidFill>
            <a:srgbClr val="2F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703320"/>
            <a:ext cx="3044951"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3703320"/>
            <a:ext cx="3246120" cy="114300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3849624"/>
            <a:ext cx="2734056" cy="292608"/>
          </a:xfrm>
          <a:prstGeom prst="rect">
            <a:avLst/>
          </a:prstGeom>
          <a:noFill/>
        </p:spPr>
        <p:txBody>
          <a:bodyPr wrap="square" lIns="36576" rIns="36576" tIns="27432" bIns="27432">
            <a:normAutofit/>
          </a:bodyPr>
          <a:lstStyle/>
          <a:p>
            <a:pPr algn="l">
              <a:defRPr sz="1150" b="1">
                <a:solidFill>
                  <a:srgbClr val="242A34"/>
                </a:solidFill>
                <a:latin typeface="Arial"/>
              </a:defRPr>
            </a:pPr>
            <a:r>
              <a:t>Same company</a:t>
            </a:r>
          </a:p>
        </p:txBody>
      </p:sp>
      <p:sp>
        <p:nvSpPr>
          <p:cNvPr id="10" name="TextBox 9"/>
          <p:cNvSpPr txBox="1"/>
          <p:nvPr/>
        </p:nvSpPr>
        <p:spPr>
          <a:xfrm>
            <a:off x="1078992" y="4215383"/>
            <a:ext cx="2697479" cy="521207"/>
          </a:xfrm>
          <a:prstGeom prst="rect">
            <a:avLst/>
          </a:prstGeom>
          <a:noFill/>
        </p:spPr>
        <p:txBody>
          <a:bodyPr wrap="square" lIns="36576" rIns="36576" tIns="27432" bIns="27432">
            <a:normAutofit/>
          </a:bodyPr>
          <a:lstStyle/>
          <a:p>
            <a:pPr algn="l">
              <a:defRPr sz="940" b="0">
                <a:solidFill>
                  <a:srgbClr val="697480"/>
                </a:solidFill>
                <a:latin typeface="Arial"/>
              </a:defRPr>
            </a:pPr>
            <a:r>
              <a:t>Nexora Systems from Assignment 1.3.</a:t>
            </a:r>
          </a:p>
        </p:txBody>
      </p:sp>
      <p:sp>
        <p:nvSpPr>
          <p:cNvPr id="11" name="Rounded Rectangle 10"/>
          <p:cNvSpPr/>
          <p:nvPr/>
        </p:nvSpPr>
        <p:spPr>
          <a:xfrm>
            <a:off x="4224528" y="3703320"/>
            <a:ext cx="3246120" cy="1143000"/>
          </a:xfrm>
          <a:prstGeom prst="roundRect">
            <a:avLst/>
          </a:prstGeom>
          <a:solidFill>
            <a:srgbClr val="26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5696" y="3703320"/>
            <a:ext cx="3044951"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24528" y="3703320"/>
            <a:ext cx="3246120" cy="114300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3849624"/>
            <a:ext cx="2734056" cy="292608"/>
          </a:xfrm>
          <a:prstGeom prst="rect">
            <a:avLst/>
          </a:prstGeom>
          <a:noFill/>
        </p:spPr>
        <p:txBody>
          <a:bodyPr wrap="square" lIns="36576" rIns="36576" tIns="27432" bIns="27432">
            <a:normAutofit/>
          </a:bodyPr>
          <a:lstStyle/>
          <a:p>
            <a:pPr algn="l">
              <a:defRPr sz="1150" b="1">
                <a:solidFill>
                  <a:srgbClr val="242A34"/>
                </a:solidFill>
                <a:latin typeface="Arial"/>
              </a:defRPr>
            </a:pPr>
            <a:r>
              <a:t>Design question</a:t>
            </a:r>
          </a:p>
        </p:txBody>
      </p:sp>
      <p:sp>
        <p:nvSpPr>
          <p:cNvPr id="15" name="TextBox 14"/>
          <p:cNvSpPr txBox="1"/>
          <p:nvPr/>
        </p:nvSpPr>
        <p:spPr>
          <a:xfrm>
            <a:off x="4590288" y="4215383"/>
            <a:ext cx="2697479" cy="521207"/>
          </a:xfrm>
          <a:prstGeom prst="rect">
            <a:avLst/>
          </a:prstGeom>
          <a:noFill/>
        </p:spPr>
        <p:txBody>
          <a:bodyPr wrap="square" lIns="36576" rIns="36576" tIns="27432" bIns="27432">
            <a:normAutofit/>
          </a:bodyPr>
          <a:lstStyle/>
          <a:p>
            <a:pPr algn="l">
              <a:defRPr sz="940" b="0">
                <a:solidFill>
                  <a:srgbClr val="697480"/>
                </a:solidFill>
                <a:latin typeface="Arial"/>
              </a:defRPr>
            </a:pPr>
            <a:r>
              <a:t>Which AI systems need explanations, disclosure, and audit evidence?</a:t>
            </a:r>
          </a:p>
        </p:txBody>
      </p:sp>
      <p:sp>
        <p:nvSpPr>
          <p:cNvPr id="16" name="Rounded Rectangle 15"/>
          <p:cNvSpPr/>
          <p:nvPr/>
        </p:nvSpPr>
        <p:spPr>
          <a:xfrm>
            <a:off x="7735824" y="3703320"/>
            <a:ext cx="3246120" cy="1143000"/>
          </a:xfrm>
          <a:prstGeom prst="roundRect">
            <a:avLst/>
          </a:prstGeom>
          <a:solidFill>
            <a:srgbClr val="D5A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36992" y="3703320"/>
            <a:ext cx="3044951"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35824" y="3703320"/>
            <a:ext cx="3246120" cy="114300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4" y="3849624"/>
            <a:ext cx="2734056" cy="292608"/>
          </a:xfrm>
          <a:prstGeom prst="rect">
            <a:avLst/>
          </a:prstGeom>
          <a:noFill/>
        </p:spPr>
        <p:txBody>
          <a:bodyPr wrap="square" lIns="36576" rIns="36576" tIns="27432" bIns="27432">
            <a:normAutofit/>
          </a:bodyPr>
          <a:lstStyle/>
          <a:p>
            <a:pPr algn="l">
              <a:defRPr sz="1150" b="1">
                <a:solidFill>
                  <a:srgbClr val="242A34"/>
                </a:solidFill>
                <a:latin typeface="Arial"/>
              </a:defRPr>
            </a:pPr>
            <a:r>
              <a:t>Deliverable</a:t>
            </a:r>
          </a:p>
        </p:txBody>
      </p:sp>
      <p:sp>
        <p:nvSpPr>
          <p:cNvPr id="20" name="TextBox 19"/>
          <p:cNvSpPr txBox="1"/>
          <p:nvPr/>
        </p:nvSpPr>
        <p:spPr>
          <a:xfrm>
            <a:off x="8101584" y="4215383"/>
            <a:ext cx="2697479" cy="521207"/>
          </a:xfrm>
          <a:prstGeom prst="rect">
            <a:avLst/>
          </a:prstGeom>
          <a:noFill/>
        </p:spPr>
        <p:txBody>
          <a:bodyPr wrap="square" lIns="36576" rIns="36576" tIns="27432" bIns="27432">
            <a:normAutofit/>
          </a:bodyPr>
          <a:lstStyle/>
          <a:p>
            <a:pPr algn="l">
              <a:defRPr sz="940" b="0">
                <a:solidFill>
                  <a:srgbClr val="697480"/>
                </a:solidFill>
                <a:latin typeface="Arial"/>
              </a:defRPr>
            </a:pPr>
            <a:r>
              <a:t>Use-case classification, evaluation process, documentation lifecycle, and reflection.</a:t>
            </a:r>
          </a:p>
        </p:txBody>
      </p:sp>
      <p:sp>
        <p:nvSpPr>
          <p:cNvPr id="21" name="TextBox 20"/>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Sources: Han, 2026; OpenAI, 2026.</a:t>
            </a:r>
          </a:p>
        </p:txBody>
      </p:sp>
      <p:sp>
        <p:nvSpPr>
          <p:cNvPr id="22" name="TextBox 21"/>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Company Overview: Nexora Context</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The same fictional company from Assignment 1.3, now viewed through transparency and explainability.</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2</a:t>
            </a:r>
          </a:p>
        </p:txBody>
      </p:sp>
      <p:sp>
        <p:nvSpPr>
          <p:cNvPr id="6" name="TextBox 5"/>
          <p:cNvSpPr txBox="1"/>
          <p:nvPr/>
        </p:nvSpPr>
        <p:spPr>
          <a:xfrm>
            <a:off x="731520" y="1261872"/>
            <a:ext cx="5532120" cy="960120"/>
          </a:xfrm>
          <a:prstGeom prst="rect">
            <a:avLst/>
          </a:prstGeom>
          <a:noFill/>
        </p:spPr>
        <p:txBody>
          <a:bodyPr wrap="square" lIns="36576" rIns="36576" tIns="27432" bIns="27432">
            <a:normAutofit/>
          </a:bodyPr>
          <a:lstStyle/>
          <a:p>
            <a:pPr algn="l">
              <a:defRPr sz="2050" b="1">
                <a:solidFill>
                  <a:srgbClr val="121F30"/>
                </a:solidFill>
                <a:latin typeface="Arial"/>
              </a:defRPr>
            </a:pPr>
            <a:r>
              <a:t>Nexora Systems is a 300-person enterprise SaaS company supporting sensitive, real-time customer integrations.</a:t>
            </a:r>
          </a:p>
        </p:txBody>
      </p:sp>
      <p:sp>
        <p:nvSpPr>
          <p:cNvPr id="7" name="TextBox 6"/>
          <p:cNvSpPr txBox="1"/>
          <p:nvPr/>
        </p:nvSpPr>
        <p:spPr>
          <a:xfrm>
            <a:off x="868680" y="2615184"/>
            <a:ext cx="5349240" cy="2560320"/>
          </a:xfrm>
          <a:prstGeom prst="rect">
            <a:avLst/>
          </a:prstGeom>
          <a:noFill/>
        </p:spPr>
        <p:txBody>
          <a:bodyPr wrap="square" lIns="45720" rIns="45720" tIns="18288" bIns="18288">
            <a:normAutofit/>
          </a:bodyPr>
          <a:lstStyle/>
          <a:p>
            <a:pPr>
              <a:spcAft>
                <a:spcPts val="600"/>
              </a:spcAft>
              <a:defRPr sz="1250">
                <a:solidFill>
                  <a:srgbClr val="242A34"/>
                </a:solidFill>
                <a:latin typeface="Arial"/>
              </a:defRPr>
            </a:pPr>
            <a:r>
              <a:t>Serves fintech, healthcare, and logistics customers.</a:t>
            </a:r>
          </a:p>
          <a:p>
            <a:pPr>
              <a:spcAft>
                <a:spcPts val="600"/>
              </a:spcAft>
              <a:defRPr sz="1250">
                <a:solidFill>
                  <a:srgbClr val="242A34"/>
                </a:solidFill>
                <a:latin typeface="Arial"/>
              </a:defRPr>
            </a:pPr>
            <a:r>
              <a:t>Handles production data flows where downtime or data leakage can harm customers.</a:t>
            </a:r>
          </a:p>
          <a:p>
            <a:pPr>
              <a:spcAft>
                <a:spcPts val="600"/>
              </a:spcAft>
              <a:defRPr sz="1250">
                <a:solidFill>
                  <a:srgbClr val="242A34"/>
                </a:solidFill>
                <a:latin typeface="Arial"/>
              </a:defRPr>
            </a:pPr>
            <a:r>
              <a:t>The CTO owns AI adoption, reliability, security, data governance, and customer trust.</a:t>
            </a:r>
          </a:p>
          <a:p>
            <a:pPr>
              <a:spcAft>
                <a:spcPts val="600"/>
              </a:spcAft>
              <a:defRPr sz="1250">
                <a:solidFill>
                  <a:srgbClr val="242A34"/>
                </a:solidFill>
                <a:latin typeface="Arial"/>
              </a:defRPr>
            </a:pPr>
            <a:r>
              <a:t>Transparency must work for engineers, customer admins, compliance reviewers, and affected users.</a:t>
            </a:r>
          </a:p>
        </p:txBody>
      </p:sp>
      <p:sp>
        <p:nvSpPr>
          <p:cNvPr id="8" name="Rounded Rectangle 7"/>
          <p:cNvSpPr/>
          <p:nvPr/>
        </p:nvSpPr>
        <p:spPr>
          <a:xfrm>
            <a:off x="6629400" y="1261872"/>
            <a:ext cx="4343400" cy="1234440"/>
          </a:xfrm>
          <a:prstGeom prst="roundRect">
            <a:avLst/>
          </a:prstGeom>
          <a:solidFill>
            <a:srgbClr val="2F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30568" y="1261872"/>
            <a:ext cx="4142232"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29400" y="1261872"/>
            <a:ext cx="4343400" cy="123444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59" y="1408175"/>
            <a:ext cx="3831336" cy="292608"/>
          </a:xfrm>
          <a:prstGeom prst="rect">
            <a:avLst/>
          </a:prstGeom>
          <a:noFill/>
        </p:spPr>
        <p:txBody>
          <a:bodyPr wrap="square" lIns="36576" rIns="36576" tIns="27432" bIns="27432">
            <a:normAutofit/>
          </a:bodyPr>
          <a:lstStyle/>
          <a:p>
            <a:pPr algn="l">
              <a:defRPr sz="1150" b="1">
                <a:solidFill>
                  <a:srgbClr val="242A34"/>
                </a:solidFill>
                <a:latin typeface="Arial"/>
              </a:defRPr>
            </a:pPr>
            <a:r>
              <a:t>Transparency need</a:t>
            </a:r>
          </a:p>
        </p:txBody>
      </p:sp>
      <p:sp>
        <p:nvSpPr>
          <p:cNvPr id="12" name="TextBox 11"/>
          <p:cNvSpPr txBox="1"/>
          <p:nvPr/>
        </p:nvSpPr>
        <p:spPr>
          <a:xfrm>
            <a:off x="6995159" y="1773936"/>
            <a:ext cx="3794760" cy="612648"/>
          </a:xfrm>
          <a:prstGeom prst="rect">
            <a:avLst/>
          </a:prstGeom>
          <a:noFill/>
        </p:spPr>
        <p:txBody>
          <a:bodyPr wrap="square" lIns="36576" rIns="36576" tIns="27432" bIns="27432">
            <a:normAutofit/>
          </a:bodyPr>
          <a:lstStyle/>
          <a:p>
            <a:pPr algn="l">
              <a:defRPr sz="940" b="0">
                <a:solidFill>
                  <a:srgbClr val="697480"/>
                </a:solidFill>
                <a:latin typeface="Arial"/>
              </a:defRPr>
            </a:pPr>
            <a:r>
              <a:t>Customers need to know why AI recommendations appear and when humans approve production changes.</a:t>
            </a:r>
          </a:p>
        </p:txBody>
      </p:sp>
      <p:sp>
        <p:nvSpPr>
          <p:cNvPr id="13" name="Rounded Rectangle 12"/>
          <p:cNvSpPr/>
          <p:nvPr/>
        </p:nvSpPr>
        <p:spPr>
          <a:xfrm>
            <a:off x="6629400" y="2852928"/>
            <a:ext cx="4343400" cy="1234440"/>
          </a:xfrm>
          <a:prstGeom prst="roundRect">
            <a:avLst/>
          </a:prstGeom>
          <a:solidFill>
            <a:srgbClr val="26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2852928"/>
            <a:ext cx="4142232"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29400" y="2852928"/>
            <a:ext cx="4343400" cy="123444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59" y="2999232"/>
            <a:ext cx="3831336" cy="292608"/>
          </a:xfrm>
          <a:prstGeom prst="rect">
            <a:avLst/>
          </a:prstGeom>
          <a:noFill/>
        </p:spPr>
        <p:txBody>
          <a:bodyPr wrap="square" lIns="36576" rIns="36576" tIns="27432" bIns="27432">
            <a:normAutofit/>
          </a:bodyPr>
          <a:lstStyle/>
          <a:p>
            <a:pPr algn="l">
              <a:defRPr sz="1150" b="1">
                <a:solidFill>
                  <a:srgbClr val="242A34"/>
                </a:solidFill>
                <a:latin typeface="Arial"/>
              </a:defRPr>
            </a:pPr>
            <a:r>
              <a:t>Explainability need</a:t>
            </a:r>
          </a:p>
        </p:txBody>
      </p:sp>
      <p:sp>
        <p:nvSpPr>
          <p:cNvPr id="17" name="TextBox 16"/>
          <p:cNvSpPr txBox="1"/>
          <p:nvPr/>
        </p:nvSpPr>
        <p:spPr>
          <a:xfrm>
            <a:off x="6995159" y="3364992"/>
            <a:ext cx="3794760" cy="612648"/>
          </a:xfrm>
          <a:prstGeom prst="rect">
            <a:avLst/>
          </a:prstGeom>
          <a:noFill/>
        </p:spPr>
        <p:txBody>
          <a:bodyPr wrap="square" lIns="36576" rIns="36576" tIns="27432" bIns="27432">
            <a:normAutofit/>
          </a:bodyPr>
          <a:lstStyle/>
          <a:p>
            <a:pPr algn="l">
              <a:defRPr sz="940" b="0">
                <a:solidFill>
                  <a:srgbClr val="697480"/>
                </a:solidFill>
                <a:latin typeface="Arial"/>
              </a:defRPr>
            </a:pPr>
            <a:r>
              <a:t>Higher-risk recommendations need enough rationale to verify, challenge, or override the output.</a:t>
            </a:r>
          </a:p>
        </p:txBody>
      </p:sp>
      <p:sp>
        <p:nvSpPr>
          <p:cNvPr id="18" name="Rounded Rectangle 17"/>
          <p:cNvSpPr/>
          <p:nvPr/>
        </p:nvSpPr>
        <p:spPr>
          <a:xfrm>
            <a:off x="6629400" y="4443984"/>
            <a:ext cx="4343400" cy="1234440"/>
          </a:xfrm>
          <a:prstGeom prst="roundRect">
            <a:avLst/>
          </a:prstGeom>
          <a:solidFill>
            <a:srgbClr val="D5A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30568" y="4443984"/>
            <a:ext cx="4142232"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29400" y="4443984"/>
            <a:ext cx="4343400" cy="123444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59" y="4590288"/>
            <a:ext cx="3831336" cy="292608"/>
          </a:xfrm>
          <a:prstGeom prst="rect">
            <a:avLst/>
          </a:prstGeom>
          <a:noFill/>
        </p:spPr>
        <p:txBody>
          <a:bodyPr wrap="square" lIns="36576" rIns="36576" tIns="27432" bIns="27432">
            <a:normAutofit/>
          </a:bodyPr>
          <a:lstStyle/>
          <a:p>
            <a:pPr algn="l">
              <a:defRPr sz="1150" b="1">
                <a:solidFill>
                  <a:srgbClr val="242A34"/>
                </a:solidFill>
                <a:latin typeface="Arial"/>
              </a:defRPr>
            </a:pPr>
            <a:r>
              <a:t>Governance need</a:t>
            </a:r>
          </a:p>
        </p:txBody>
      </p:sp>
      <p:sp>
        <p:nvSpPr>
          <p:cNvPr id="22" name="TextBox 21"/>
          <p:cNvSpPr txBox="1"/>
          <p:nvPr/>
        </p:nvSpPr>
        <p:spPr>
          <a:xfrm>
            <a:off x="6995159" y="4956048"/>
            <a:ext cx="3794760" cy="612648"/>
          </a:xfrm>
          <a:prstGeom prst="rect">
            <a:avLst/>
          </a:prstGeom>
          <a:noFill/>
        </p:spPr>
        <p:txBody>
          <a:bodyPr wrap="square" lIns="36576" rIns="36576" tIns="27432" bIns="27432">
            <a:normAutofit/>
          </a:bodyPr>
          <a:lstStyle/>
          <a:p>
            <a:pPr algn="l">
              <a:defRPr sz="940" b="0">
                <a:solidFill>
                  <a:srgbClr val="697480"/>
                </a:solidFill>
                <a:latin typeface="Arial"/>
              </a:defRPr>
            </a:pPr>
            <a:r>
              <a:t>Documentation must follow the system from intake through retirement, not appear only at launch.</a:t>
            </a:r>
          </a:p>
        </p:txBody>
      </p:sp>
      <p:sp>
        <p:nvSpPr>
          <p:cNvPr id="23" name="TextBox 22"/>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 Han,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AI Use Cases Under Consideration</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Nexora should keep early AI assistive until testing and governance are mature.</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3</a:t>
            </a:r>
          </a:p>
        </p:txBody>
      </p:sp>
      <p:sp>
        <p:nvSpPr>
          <p:cNvPr id="6" name="Rounded Rectangle 5"/>
          <p:cNvSpPr/>
          <p:nvPr/>
        </p:nvSpPr>
        <p:spPr>
          <a:xfrm>
            <a:off x="749808" y="1325880"/>
            <a:ext cx="4983480" cy="1508760"/>
          </a:xfrm>
          <a:prstGeom prst="roundRect">
            <a:avLst/>
          </a:prstGeom>
          <a:solidFill>
            <a:srgbClr val="2F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 y="1325880"/>
            <a:ext cx="4782312"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325880"/>
            <a:ext cx="4983480" cy="15087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1472184"/>
            <a:ext cx="4471416" cy="292608"/>
          </a:xfrm>
          <a:prstGeom prst="rect">
            <a:avLst/>
          </a:prstGeom>
          <a:noFill/>
        </p:spPr>
        <p:txBody>
          <a:bodyPr wrap="square" lIns="36576" rIns="36576" tIns="27432" bIns="27432">
            <a:normAutofit/>
          </a:bodyPr>
          <a:lstStyle/>
          <a:p>
            <a:pPr algn="l">
              <a:defRPr sz="1150" b="1">
                <a:solidFill>
                  <a:srgbClr val="242A34"/>
                </a:solidFill>
                <a:latin typeface="Arial"/>
              </a:defRPr>
            </a:pPr>
            <a:r>
              <a:t>Auto-suggest API mappings</a:t>
            </a:r>
          </a:p>
        </p:txBody>
      </p:sp>
      <p:sp>
        <p:nvSpPr>
          <p:cNvPr id="10" name="TextBox 9"/>
          <p:cNvSpPr txBox="1"/>
          <p:nvPr/>
        </p:nvSpPr>
        <p:spPr>
          <a:xfrm>
            <a:off x="1115568" y="1837943"/>
            <a:ext cx="4434840" cy="886967"/>
          </a:xfrm>
          <a:prstGeom prst="rect">
            <a:avLst/>
          </a:prstGeom>
          <a:noFill/>
        </p:spPr>
        <p:txBody>
          <a:bodyPr wrap="square" lIns="36576" rIns="36576" tIns="27432" bIns="27432">
            <a:normAutofit/>
          </a:bodyPr>
          <a:lstStyle/>
          <a:p>
            <a:pPr algn="l">
              <a:defRPr sz="1050" b="0">
                <a:solidFill>
                  <a:srgbClr val="697480"/>
                </a:solidFill>
                <a:latin typeface="Arial"/>
              </a:defRPr>
            </a:pPr>
            <a:r>
              <a:t>Recommend field mappings and transformations for implementation teams; humans approve before production use.</a:t>
            </a:r>
          </a:p>
        </p:txBody>
      </p:sp>
      <p:sp>
        <p:nvSpPr>
          <p:cNvPr id="11" name="Rounded Rectangle 10"/>
          <p:cNvSpPr/>
          <p:nvPr/>
        </p:nvSpPr>
        <p:spPr>
          <a:xfrm>
            <a:off x="6236208" y="1325880"/>
            <a:ext cx="4983480" cy="1508760"/>
          </a:xfrm>
          <a:prstGeom prst="roundRect">
            <a:avLst/>
          </a:prstGeom>
          <a:solidFill>
            <a:srgbClr val="26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37376" y="1325880"/>
            <a:ext cx="4782312"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6208" y="1325880"/>
            <a:ext cx="4983480" cy="15087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1472184"/>
            <a:ext cx="4471416" cy="292608"/>
          </a:xfrm>
          <a:prstGeom prst="rect">
            <a:avLst/>
          </a:prstGeom>
          <a:noFill/>
        </p:spPr>
        <p:txBody>
          <a:bodyPr wrap="square" lIns="36576" rIns="36576" tIns="27432" bIns="27432">
            <a:normAutofit/>
          </a:bodyPr>
          <a:lstStyle/>
          <a:p>
            <a:pPr algn="l">
              <a:defRPr sz="1150" b="1">
                <a:solidFill>
                  <a:srgbClr val="242A34"/>
                </a:solidFill>
                <a:latin typeface="Arial"/>
              </a:defRPr>
            </a:pPr>
            <a:r>
              <a:t>Anomaly detection</a:t>
            </a:r>
          </a:p>
        </p:txBody>
      </p:sp>
      <p:sp>
        <p:nvSpPr>
          <p:cNvPr id="15" name="TextBox 14"/>
          <p:cNvSpPr txBox="1"/>
          <p:nvPr/>
        </p:nvSpPr>
        <p:spPr>
          <a:xfrm>
            <a:off x="6601968" y="1837943"/>
            <a:ext cx="4434840" cy="886967"/>
          </a:xfrm>
          <a:prstGeom prst="rect">
            <a:avLst/>
          </a:prstGeom>
          <a:noFill/>
        </p:spPr>
        <p:txBody>
          <a:bodyPr wrap="square" lIns="36576" rIns="36576" tIns="27432" bIns="27432">
            <a:normAutofit/>
          </a:bodyPr>
          <a:lstStyle/>
          <a:p>
            <a:pPr algn="l">
              <a:defRPr sz="1050" b="0">
                <a:solidFill>
                  <a:srgbClr val="697480"/>
                </a:solidFill>
                <a:latin typeface="Arial"/>
              </a:defRPr>
            </a:pPr>
            <a:r>
              <a:t>Flag unusual data flows, latency spikes, schema drift, and suspicious patterns in integration pipelines.</a:t>
            </a:r>
          </a:p>
        </p:txBody>
      </p:sp>
      <p:sp>
        <p:nvSpPr>
          <p:cNvPr id="16" name="Rounded Rectangle 15"/>
          <p:cNvSpPr/>
          <p:nvPr/>
        </p:nvSpPr>
        <p:spPr>
          <a:xfrm>
            <a:off x="749808" y="3474720"/>
            <a:ext cx="4983480" cy="1508760"/>
          </a:xfrm>
          <a:prstGeom prst="roundRect">
            <a:avLst/>
          </a:prstGeom>
          <a:solidFill>
            <a:srgbClr val="D5A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50976" y="3474720"/>
            <a:ext cx="4782312"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9808" y="3474720"/>
            <a:ext cx="4983480" cy="15087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5568" y="3621024"/>
            <a:ext cx="4471416" cy="292608"/>
          </a:xfrm>
          <a:prstGeom prst="rect">
            <a:avLst/>
          </a:prstGeom>
          <a:noFill/>
        </p:spPr>
        <p:txBody>
          <a:bodyPr wrap="square" lIns="36576" rIns="36576" tIns="27432" bIns="27432">
            <a:normAutofit/>
          </a:bodyPr>
          <a:lstStyle/>
          <a:p>
            <a:pPr algn="l">
              <a:defRPr sz="1150" b="1">
                <a:solidFill>
                  <a:srgbClr val="242A34"/>
                </a:solidFill>
                <a:latin typeface="Arial"/>
              </a:defRPr>
            </a:pPr>
            <a:r>
              <a:t>Predictive failure routing</a:t>
            </a:r>
          </a:p>
        </p:txBody>
      </p:sp>
      <p:sp>
        <p:nvSpPr>
          <p:cNvPr id="20" name="TextBox 19"/>
          <p:cNvSpPr txBox="1"/>
          <p:nvPr/>
        </p:nvSpPr>
        <p:spPr>
          <a:xfrm>
            <a:off x="1115568" y="3986783"/>
            <a:ext cx="4434840" cy="886967"/>
          </a:xfrm>
          <a:prstGeom prst="rect">
            <a:avLst/>
          </a:prstGeom>
          <a:noFill/>
        </p:spPr>
        <p:txBody>
          <a:bodyPr wrap="square" lIns="36576" rIns="36576" tIns="27432" bIns="27432">
            <a:normAutofit/>
          </a:bodyPr>
          <a:lstStyle/>
          <a:p>
            <a:pPr algn="l">
              <a:defRPr sz="1050" b="0">
                <a:solidFill>
                  <a:srgbClr val="697480"/>
                </a:solidFill>
                <a:latin typeface="Arial"/>
              </a:defRPr>
            </a:pPr>
            <a:r>
              <a:t>Predict outage risk and recommend routing or retry options before customers experience disruption.</a:t>
            </a:r>
          </a:p>
        </p:txBody>
      </p:sp>
      <p:sp>
        <p:nvSpPr>
          <p:cNvPr id="21" name="Rounded Rectangle 20"/>
          <p:cNvSpPr/>
          <p:nvPr/>
        </p:nvSpPr>
        <p:spPr>
          <a:xfrm>
            <a:off x="6236208" y="3474720"/>
            <a:ext cx="4983480" cy="1508760"/>
          </a:xfrm>
          <a:prstGeom prst="roundRect">
            <a:avLst/>
          </a:prstGeom>
          <a:solidFill>
            <a:srgbClr val="538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37376" y="3474720"/>
            <a:ext cx="4782312"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36208" y="3474720"/>
            <a:ext cx="4983480" cy="15087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1968" y="3621024"/>
            <a:ext cx="4471416" cy="292608"/>
          </a:xfrm>
          <a:prstGeom prst="rect">
            <a:avLst/>
          </a:prstGeom>
          <a:noFill/>
        </p:spPr>
        <p:txBody>
          <a:bodyPr wrap="square" lIns="36576" rIns="36576" tIns="27432" bIns="27432">
            <a:normAutofit/>
          </a:bodyPr>
          <a:lstStyle/>
          <a:p>
            <a:pPr algn="l">
              <a:defRPr sz="1150" b="1">
                <a:solidFill>
                  <a:srgbClr val="242A34"/>
                </a:solidFill>
                <a:latin typeface="Arial"/>
              </a:defRPr>
            </a:pPr>
            <a:r>
              <a:t>Workflow optimization</a:t>
            </a:r>
          </a:p>
        </p:txBody>
      </p:sp>
      <p:sp>
        <p:nvSpPr>
          <p:cNvPr id="25" name="TextBox 24"/>
          <p:cNvSpPr txBox="1"/>
          <p:nvPr/>
        </p:nvSpPr>
        <p:spPr>
          <a:xfrm>
            <a:off x="6601968" y="3986783"/>
            <a:ext cx="4434840" cy="886967"/>
          </a:xfrm>
          <a:prstGeom prst="rect">
            <a:avLst/>
          </a:prstGeom>
          <a:noFill/>
        </p:spPr>
        <p:txBody>
          <a:bodyPr wrap="square" lIns="36576" rIns="36576" tIns="27432" bIns="27432">
            <a:normAutofit/>
          </a:bodyPr>
          <a:lstStyle/>
          <a:p>
            <a:pPr algn="l">
              <a:defRPr sz="1050" b="0">
                <a:solidFill>
                  <a:srgbClr val="697480"/>
                </a:solidFill>
                <a:latin typeface="Arial"/>
              </a:defRPr>
            </a:pPr>
            <a:r>
              <a:t>Suggest process simplification, cost reductions, and monitoring changes for customer operations teams.</a:t>
            </a:r>
          </a:p>
        </p:txBody>
      </p:sp>
      <p:sp>
        <p:nvSpPr>
          <p:cNvPr id="26" name="TextBox 25"/>
          <p:cNvSpPr txBox="1"/>
          <p:nvPr/>
        </p:nvSpPr>
        <p:spPr>
          <a:xfrm>
            <a:off x="960120" y="5715000"/>
            <a:ext cx="10424160" cy="320040"/>
          </a:xfrm>
          <a:prstGeom prst="rect">
            <a:avLst/>
          </a:prstGeom>
          <a:noFill/>
        </p:spPr>
        <p:txBody>
          <a:bodyPr wrap="square" lIns="36576" rIns="36576" tIns="27432" bIns="27432">
            <a:normAutofit/>
          </a:bodyPr>
          <a:lstStyle/>
          <a:p>
            <a:pPr algn="ctr">
              <a:defRPr sz="1300" b="1">
                <a:solidFill>
                  <a:srgbClr val="121F30"/>
                </a:solidFill>
                <a:latin typeface="Arial"/>
              </a:defRPr>
            </a:pPr>
            <a:r>
              <a:t>Guardrail: AI may recommend actions, but customer-impacting production changes require human approval until reliability evidence supports narrower automation.</a:t>
            </a:r>
          </a:p>
        </p:txBody>
      </p:sp>
      <p:sp>
        <p:nvSpPr>
          <p:cNvPr id="27" name="TextBox 26"/>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 Han,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Major Company Transparency Patterns</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Technology companies tend to pair transparency with documentation, disclosure, and accountability.</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4</a:t>
            </a:r>
          </a:p>
        </p:txBody>
      </p:sp>
      <p:sp>
        <p:nvSpPr>
          <p:cNvPr id="6" name="Rounded Rectangle 5"/>
          <p:cNvSpPr/>
          <p:nvPr/>
        </p:nvSpPr>
        <p:spPr>
          <a:xfrm>
            <a:off x="713232" y="1298448"/>
            <a:ext cx="5120640" cy="1051560"/>
          </a:xfrm>
          <a:prstGeom prst="roundRect">
            <a:avLst/>
          </a:prstGeom>
          <a:solidFill>
            <a:srgbClr val="2F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298448"/>
            <a:ext cx="491947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298448"/>
            <a:ext cx="5120640" cy="10515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444751"/>
            <a:ext cx="4608576" cy="292608"/>
          </a:xfrm>
          <a:prstGeom prst="rect">
            <a:avLst/>
          </a:prstGeom>
          <a:noFill/>
        </p:spPr>
        <p:txBody>
          <a:bodyPr wrap="square" lIns="36576" rIns="36576" tIns="27432" bIns="27432">
            <a:normAutofit/>
          </a:bodyPr>
          <a:lstStyle/>
          <a:p>
            <a:pPr algn="l">
              <a:defRPr sz="1150" b="1">
                <a:solidFill>
                  <a:srgbClr val="242A34"/>
                </a:solidFill>
                <a:latin typeface="Arial"/>
              </a:defRPr>
            </a:pPr>
            <a:r>
              <a:t>Microsoft</a:t>
            </a:r>
          </a:p>
        </p:txBody>
      </p:sp>
      <p:sp>
        <p:nvSpPr>
          <p:cNvPr id="10" name="TextBox 9"/>
          <p:cNvSpPr txBox="1"/>
          <p:nvPr/>
        </p:nvSpPr>
        <p:spPr>
          <a:xfrm>
            <a:off x="1078992" y="1810512"/>
            <a:ext cx="4572000" cy="429767"/>
          </a:xfrm>
          <a:prstGeom prst="rect">
            <a:avLst/>
          </a:prstGeom>
          <a:noFill/>
        </p:spPr>
        <p:txBody>
          <a:bodyPr wrap="square" lIns="36576" rIns="36576" tIns="27432" bIns="27432">
            <a:normAutofit/>
          </a:bodyPr>
          <a:lstStyle/>
          <a:p>
            <a:pPr algn="l">
              <a:defRPr sz="880" b="0">
                <a:solidFill>
                  <a:srgbClr val="697480"/>
                </a:solidFill>
                <a:latin typeface="Arial"/>
              </a:defRPr>
            </a:pPr>
            <a:r>
              <a:t>Transparency is a responsible AI principle tied to understandability, communication, and accountability.</a:t>
            </a:r>
          </a:p>
        </p:txBody>
      </p:sp>
      <p:sp>
        <p:nvSpPr>
          <p:cNvPr id="11" name="Rounded Rectangle 10"/>
          <p:cNvSpPr/>
          <p:nvPr/>
        </p:nvSpPr>
        <p:spPr>
          <a:xfrm>
            <a:off x="6245352" y="1298448"/>
            <a:ext cx="5120640" cy="1051560"/>
          </a:xfrm>
          <a:prstGeom prst="roundRect">
            <a:avLst/>
          </a:prstGeom>
          <a:solidFill>
            <a:srgbClr val="26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1298448"/>
            <a:ext cx="491947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45352" y="1298448"/>
            <a:ext cx="5120640" cy="10515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1444751"/>
            <a:ext cx="4608576" cy="292608"/>
          </a:xfrm>
          <a:prstGeom prst="rect">
            <a:avLst/>
          </a:prstGeom>
          <a:noFill/>
        </p:spPr>
        <p:txBody>
          <a:bodyPr wrap="square" lIns="36576" rIns="36576" tIns="27432" bIns="27432">
            <a:normAutofit/>
          </a:bodyPr>
          <a:lstStyle/>
          <a:p>
            <a:pPr algn="l">
              <a:defRPr sz="1150" b="1">
                <a:solidFill>
                  <a:srgbClr val="242A34"/>
                </a:solidFill>
                <a:latin typeface="Arial"/>
              </a:defRPr>
            </a:pPr>
            <a:r>
              <a:t>Google</a:t>
            </a:r>
          </a:p>
        </p:txBody>
      </p:sp>
      <p:sp>
        <p:nvSpPr>
          <p:cNvPr id="15" name="TextBox 14"/>
          <p:cNvSpPr txBox="1"/>
          <p:nvPr/>
        </p:nvSpPr>
        <p:spPr>
          <a:xfrm>
            <a:off x="6611112" y="1810512"/>
            <a:ext cx="4572000" cy="429767"/>
          </a:xfrm>
          <a:prstGeom prst="rect">
            <a:avLst/>
          </a:prstGeom>
          <a:noFill/>
        </p:spPr>
        <p:txBody>
          <a:bodyPr wrap="square" lIns="36576" rIns="36576" tIns="27432" bIns="27432">
            <a:normAutofit/>
          </a:bodyPr>
          <a:lstStyle/>
          <a:p>
            <a:pPr algn="l">
              <a:defRPr sz="880" b="0">
                <a:solidFill>
                  <a:srgbClr val="697480"/>
                </a:solidFill>
                <a:latin typeface="Arial"/>
              </a:defRPr>
            </a:pPr>
            <a:r>
              <a:t>Model cards and responsible AI practices document purpose, performance, limitations, and intended use.</a:t>
            </a:r>
          </a:p>
        </p:txBody>
      </p:sp>
      <p:sp>
        <p:nvSpPr>
          <p:cNvPr id="16" name="Rounded Rectangle 15"/>
          <p:cNvSpPr/>
          <p:nvPr/>
        </p:nvSpPr>
        <p:spPr>
          <a:xfrm>
            <a:off x="713232" y="2715768"/>
            <a:ext cx="5120640" cy="1051560"/>
          </a:xfrm>
          <a:prstGeom prst="roundRect">
            <a:avLst/>
          </a:prstGeom>
          <a:solidFill>
            <a:srgbClr val="D5A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2715768"/>
            <a:ext cx="491947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2715768"/>
            <a:ext cx="5120640" cy="10515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2862072"/>
            <a:ext cx="4608576" cy="292608"/>
          </a:xfrm>
          <a:prstGeom prst="rect">
            <a:avLst/>
          </a:prstGeom>
          <a:noFill/>
        </p:spPr>
        <p:txBody>
          <a:bodyPr wrap="square" lIns="36576" rIns="36576" tIns="27432" bIns="27432">
            <a:normAutofit/>
          </a:bodyPr>
          <a:lstStyle/>
          <a:p>
            <a:pPr algn="l">
              <a:defRPr sz="1150" b="1">
                <a:solidFill>
                  <a:srgbClr val="242A34"/>
                </a:solidFill>
                <a:latin typeface="Arial"/>
              </a:defRPr>
            </a:pPr>
            <a:r>
              <a:t>IBM</a:t>
            </a:r>
          </a:p>
        </p:txBody>
      </p:sp>
      <p:sp>
        <p:nvSpPr>
          <p:cNvPr id="20" name="TextBox 19"/>
          <p:cNvSpPr txBox="1"/>
          <p:nvPr/>
        </p:nvSpPr>
        <p:spPr>
          <a:xfrm>
            <a:off x="1078992" y="3227832"/>
            <a:ext cx="4572000" cy="429767"/>
          </a:xfrm>
          <a:prstGeom prst="rect">
            <a:avLst/>
          </a:prstGeom>
          <a:noFill/>
        </p:spPr>
        <p:txBody>
          <a:bodyPr wrap="square" lIns="36576" rIns="36576" tIns="27432" bIns="27432">
            <a:normAutofit/>
          </a:bodyPr>
          <a:lstStyle/>
          <a:p>
            <a:pPr algn="l">
              <a:defRPr sz="880" b="0">
                <a:solidFill>
                  <a:srgbClr val="697480"/>
                </a:solidFill>
                <a:latin typeface="Arial"/>
              </a:defRPr>
            </a:pPr>
            <a:r>
              <a:t>Trustworthy AI emphasizes explainability, transparency, privacy, robustness, and human augmentation.</a:t>
            </a:r>
          </a:p>
        </p:txBody>
      </p:sp>
      <p:sp>
        <p:nvSpPr>
          <p:cNvPr id="21" name="Rounded Rectangle 20"/>
          <p:cNvSpPr/>
          <p:nvPr/>
        </p:nvSpPr>
        <p:spPr>
          <a:xfrm>
            <a:off x="6245352" y="2715768"/>
            <a:ext cx="5120640" cy="1051560"/>
          </a:xfrm>
          <a:prstGeom prst="roundRect">
            <a:avLst/>
          </a:prstGeom>
          <a:solidFill>
            <a:srgbClr val="538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2715768"/>
            <a:ext cx="491947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45352" y="2715768"/>
            <a:ext cx="5120640" cy="10515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2862072"/>
            <a:ext cx="4608576" cy="292608"/>
          </a:xfrm>
          <a:prstGeom prst="rect">
            <a:avLst/>
          </a:prstGeom>
          <a:noFill/>
        </p:spPr>
        <p:txBody>
          <a:bodyPr wrap="square" lIns="36576" rIns="36576" tIns="27432" bIns="27432">
            <a:normAutofit/>
          </a:bodyPr>
          <a:lstStyle/>
          <a:p>
            <a:pPr algn="l">
              <a:defRPr sz="1150" b="1">
                <a:solidFill>
                  <a:srgbClr val="242A34"/>
                </a:solidFill>
                <a:latin typeface="Arial"/>
              </a:defRPr>
            </a:pPr>
            <a:r>
              <a:t>Salesforce</a:t>
            </a:r>
          </a:p>
        </p:txBody>
      </p:sp>
      <p:sp>
        <p:nvSpPr>
          <p:cNvPr id="25" name="TextBox 24"/>
          <p:cNvSpPr txBox="1"/>
          <p:nvPr/>
        </p:nvSpPr>
        <p:spPr>
          <a:xfrm>
            <a:off x="6611112" y="3227832"/>
            <a:ext cx="4572000" cy="429767"/>
          </a:xfrm>
          <a:prstGeom prst="rect">
            <a:avLst/>
          </a:prstGeom>
          <a:noFill/>
        </p:spPr>
        <p:txBody>
          <a:bodyPr wrap="square" lIns="36576" rIns="36576" tIns="27432" bIns="27432">
            <a:normAutofit/>
          </a:bodyPr>
          <a:lstStyle/>
          <a:p>
            <a:pPr algn="l">
              <a:defRPr sz="880" b="0">
                <a:solidFill>
                  <a:srgbClr val="697480"/>
                </a:solidFill>
                <a:latin typeface="Arial"/>
              </a:defRPr>
            </a:pPr>
            <a:r>
              <a:t>Trusted AI stresses transparent use, customer control, data protection, and disclosure in enterprise tools.</a:t>
            </a:r>
          </a:p>
        </p:txBody>
      </p:sp>
      <p:sp>
        <p:nvSpPr>
          <p:cNvPr id="26" name="Rounded Rectangle 25"/>
          <p:cNvSpPr/>
          <p:nvPr/>
        </p:nvSpPr>
        <p:spPr>
          <a:xfrm>
            <a:off x="713232" y="4133087"/>
            <a:ext cx="10652760" cy="1051560"/>
          </a:xfrm>
          <a:prstGeom prst="roundRect">
            <a:avLst/>
          </a:prstGeom>
          <a:solidFill>
            <a:srgbClr val="705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4133087"/>
            <a:ext cx="1045159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133087"/>
            <a:ext cx="10652760" cy="1051560"/>
          </a:xfrm>
          <a:prstGeom prst="roundRect">
            <a:avLst/>
          </a:prstGeom>
          <a:no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992" y="4279392"/>
            <a:ext cx="10140696" cy="292608"/>
          </a:xfrm>
          <a:prstGeom prst="rect">
            <a:avLst/>
          </a:prstGeom>
          <a:noFill/>
        </p:spPr>
        <p:txBody>
          <a:bodyPr wrap="square" lIns="36576" rIns="36576" tIns="27432" bIns="27432">
            <a:normAutofit/>
          </a:bodyPr>
          <a:lstStyle/>
          <a:p>
            <a:pPr algn="l">
              <a:defRPr sz="1150" b="1">
                <a:solidFill>
                  <a:srgbClr val="242A34"/>
                </a:solidFill>
                <a:latin typeface="Arial"/>
              </a:defRPr>
            </a:pPr>
            <a:r>
              <a:t>OpenAI</a:t>
            </a:r>
          </a:p>
        </p:txBody>
      </p:sp>
      <p:sp>
        <p:nvSpPr>
          <p:cNvPr id="30" name="TextBox 29"/>
          <p:cNvSpPr txBox="1"/>
          <p:nvPr/>
        </p:nvSpPr>
        <p:spPr>
          <a:xfrm>
            <a:off x="1078992" y="4645152"/>
            <a:ext cx="10104119" cy="429767"/>
          </a:xfrm>
          <a:prstGeom prst="rect">
            <a:avLst/>
          </a:prstGeom>
          <a:noFill/>
        </p:spPr>
        <p:txBody>
          <a:bodyPr wrap="square" lIns="36576" rIns="36576" tIns="27432" bIns="27432">
            <a:normAutofit/>
          </a:bodyPr>
          <a:lstStyle/>
          <a:p>
            <a:pPr algn="l">
              <a:defRPr sz="880" b="0">
                <a:solidFill>
                  <a:srgbClr val="697480"/>
                </a:solidFill>
                <a:latin typeface="Arial"/>
              </a:defRPr>
            </a:pPr>
            <a:r>
              <a:t>Public model behavior specifications and system cards clarify intended behavior, risks, and limitations.</a:t>
            </a:r>
          </a:p>
        </p:txBody>
      </p:sp>
      <p:sp>
        <p:nvSpPr>
          <p:cNvPr id="31" name="TextBox 30"/>
          <p:cNvSpPr txBox="1"/>
          <p:nvPr/>
        </p:nvSpPr>
        <p:spPr>
          <a:xfrm>
            <a:off x="868680" y="5779008"/>
            <a:ext cx="10424160" cy="320040"/>
          </a:xfrm>
          <a:prstGeom prst="rect">
            <a:avLst/>
          </a:prstGeom>
          <a:noFill/>
        </p:spPr>
        <p:txBody>
          <a:bodyPr wrap="square" lIns="36576" rIns="36576" tIns="27432" bIns="27432">
            <a:normAutofit/>
          </a:bodyPr>
          <a:lstStyle/>
          <a:p>
            <a:pPr algn="ctr">
              <a:defRPr sz="1320" b="1">
                <a:solidFill>
                  <a:srgbClr val="121F30"/>
                </a:solidFill>
                <a:latin typeface="Arial"/>
              </a:defRPr>
            </a:pPr>
            <a:r>
              <a:t>Design takeaway: Nexora needs both customer-facing explanations and internal evidence that teams can audit.</a:t>
            </a:r>
          </a:p>
        </p:txBody>
      </p:sp>
      <p:sp>
        <p:nvSpPr>
          <p:cNvPr id="32" name="TextBox 31"/>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Sources: Microsoft, n.d.; Google, n.d.; IBM, n.d.; Salesforce, n.d.; OpenAI, 2024,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Which AI Use Cases Require Explainability?</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Explainability depends on autonomy, risk, impact, and whether someone needs to challenge the output.</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5</a:t>
            </a:r>
          </a:p>
        </p:txBody>
      </p:sp>
      <p:graphicFrame>
        <p:nvGraphicFramePr>
          <p:cNvPr id="6" name="Table 5"/>
          <p:cNvGraphicFramePr>
            <a:graphicFrameLocks noGrp="1"/>
          </p:cNvGraphicFramePr>
          <p:nvPr/>
        </p:nvGraphicFramePr>
        <p:xfrm>
          <a:off x="621792" y="1234440"/>
          <a:ext cx="10954512" cy="4480560"/>
        </p:xfrm>
        <a:graphic>
          <a:graphicData uri="http://schemas.openxmlformats.org/drawingml/2006/table">
            <a:tbl>
              <a:tblPr firstRow="1" bandRow="1">
                <a:tableStyleId>{5C22544A-7EE6-4342-B048-85BDC9FD1C3A}</a:tableStyleId>
              </a:tblPr>
              <a:tblGrid>
                <a:gridCol w="2880360"/>
                <a:gridCol w="2331720"/>
                <a:gridCol w="5742432"/>
              </a:tblGrid>
              <a:tr h="548640">
                <a:tc>
                  <a:txBody>
                    <a:bodyPr/>
                    <a:lstStyle/>
                    <a:p>
                      <a:pPr algn="l"/>
                      <a:r>
                        <a:rPr sz="1050" b="1">
                          <a:solidFill>
                            <a:srgbClr val="FFFFFF"/>
                          </a:solidFill>
                          <a:latin typeface="Arial"/>
                        </a:rPr>
                        <a:t>Use case type</a:t>
                      </a:r>
                    </a:p>
                  </a:txBody>
                  <a:tcPr marL="64008" marR="64008" marT="45720" marB="45720">
                    <a:solidFill>
                      <a:srgbClr val="121F30"/>
                    </a:solidFill>
                  </a:tcPr>
                </a:tc>
                <a:tc>
                  <a:txBody>
                    <a:bodyPr/>
                    <a:lstStyle/>
                    <a:p>
                      <a:pPr algn="l"/>
                      <a:r>
                        <a:rPr sz="1050" b="1">
                          <a:solidFill>
                            <a:srgbClr val="FFFFFF"/>
                          </a:solidFill>
                          <a:latin typeface="Arial"/>
                        </a:rPr>
                        <a:t>Required level</a:t>
                      </a:r>
                    </a:p>
                  </a:txBody>
                  <a:tcPr marL="64008" marR="64008" marT="45720" marB="45720">
                    <a:solidFill>
                      <a:srgbClr val="121F30"/>
                    </a:solidFill>
                  </a:tcPr>
                </a:tc>
                <a:tc>
                  <a:txBody>
                    <a:bodyPr/>
                    <a:lstStyle/>
                    <a:p>
                      <a:pPr algn="l"/>
                      <a:r>
                        <a:rPr sz="1050" b="1">
                          <a:solidFill>
                            <a:srgbClr val="FFFFFF"/>
                          </a:solidFill>
                          <a:latin typeface="Arial"/>
                        </a:rPr>
                        <a:t>Rationale</a:t>
                      </a:r>
                    </a:p>
                  </a:txBody>
                  <a:tcPr marL="64008" marR="64008" marT="45720" marB="45720">
                    <a:solidFill>
                      <a:srgbClr val="121F30"/>
                    </a:solidFill>
                  </a:tcPr>
                </a:tc>
              </a:tr>
              <a:tr h="786384">
                <a:tc>
                  <a:txBody>
                    <a:bodyPr/>
                    <a:lstStyle/>
                    <a:p>
                      <a:pPr algn="l"/>
                      <a:r>
                        <a:rPr sz="910" b="1">
                          <a:solidFill>
                            <a:srgbClr val="242A34"/>
                          </a:solidFill>
                          <a:latin typeface="Arial"/>
                        </a:rPr>
                        <a:t>Drafting / summarization</a:t>
                      </a:r>
                    </a:p>
                  </a:txBody>
                  <a:tcPr marL="64008" marR="64008" marT="45720" marB="45720">
                    <a:solidFill>
                      <a:srgbClr val="EBF0F7"/>
                    </a:solidFill>
                  </a:tcPr>
                </a:tc>
                <a:tc>
                  <a:txBody>
                    <a:bodyPr/>
                    <a:lstStyle/>
                    <a:p>
                      <a:pPr algn="l"/>
                      <a:r>
                        <a:rPr sz="910" b="0">
                          <a:solidFill>
                            <a:srgbClr val="242A34"/>
                          </a:solidFill>
                          <a:latin typeface="Arial"/>
                        </a:rPr>
                        <a:t>Basic disclosure</a:t>
                      </a:r>
                    </a:p>
                  </a:txBody>
                  <a:tcPr marL="64008" marR="64008" marT="45720" marB="45720">
                    <a:solidFill>
                      <a:srgbClr val="FFFFFF"/>
                    </a:solidFill>
                  </a:tcPr>
                </a:tc>
                <a:tc>
                  <a:txBody>
                    <a:bodyPr/>
                    <a:lstStyle/>
                    <a:p>
                      <a:pPr algn="l"/>
                      <a:r>
                        <a:rPr sz="910" b="0">
                          <a:solidFill>
                            <a:srgbClr val="242A34"/>
                          </a:solidFill>
                          <a:latin typeface="Arial"/>
                        </a:rPr>
                        <a:t>Users mainly need to know AI assisted the output.</a:t>
                      </a:r>
                    </a:p>
                  </a:txBody>
                  <a:tcPr marL="64008" marR="64008" marT="45720" marB="45720">
                    <a:solidFill>
                      <a:srgbClr val="FFFFFF"/>
                    </a:solidFill>
                  </a:tcPr>
                </a:tc>
              </a:tr>
              <a:tr h="786384">
                <a:tc>
                  <a:txBody>
                    <a:bodyPr/>
                    <a:lstStyle/>
                    <a:p>
                      <a:pPr algn="l"/>
                      <a:r>
                        <a:rPr sz="910" b="1">
                          <a:solidFill>
                            <a:srgbClr val="242A34"/>
                          </a:solidFill>
                          <a:latin typeface="Arial"/>
                        </a:rPr>
                        <a:t>Operational recommendations</a:t>
                      </a:r>
                    </a:p>
                  </a:txBody>
                  <a:tcPr marL="64008" marR="64008" marT="45720" marB="45720">
                    <a:solidFill>
                      <a:srgbClr val="EBF0F7"/>
                    </a:solidFill>
                  </a:tcPr>
                </a:tc>
                <a:tc>
                  <a:txBody>
                    <a:bodyPr/>
                    <a:lstStyle/>
                    <a:p>
                      <a:pPr algn="l"/>
                      <a:r>
                        <a:rPr sz="910" b="0">
                          <a:solidFill>
                            <a:srgbClr val="242A34"/>
                          </a:solidFill>
                          <a:latin typeface="Arial"/>
                        </a:rPr>
                        <a:t>Moderate explanation</a:t>
                      </a:r>
                    </a:p>
                  </a:txBody>
                  <a:tcPr marL="64008" marR="64008" marT="45720" marB="45720">
                    <a:solidFill>
                      <a:srgbClr val="E6EFFA"/>
                    </a:solidFill>
                  </a:tcPr>
                </a:tc>
                <a:tc>
                  <a:txBody>
                    <a:bodyPr/>
                    <a:lstStyle/>
                    <a:p>
                      <a:pPr algn="l"/>
                      <a:r>
                        <a:rPr sz="910" b="0">
                          <a:solidFill>
                            <a:srgbClr val="242A34"/>
                          </a:solidFill>
                          <a:latin typeface="Arial"/>
                        </a:rPr>
                        <a:t>Teams need rationale, confidence, and data signals before acting.</a:t>
                      </a:r>
                    </a:p>
                  </a:txBody>
                  <a:tcPr marL="64008" marR="64008" marT="45720" marB="45720">
                    <a:solidFill>
                      <a:srgbClr val="E6EFFA"/>
                    </a:solidFill>
                  </a:tcPr>
                </a:tc>
              </a:tr>
              <a:tr h="786384">
                <a:tc>
                  <a:txBody>
                    <a:bodyPr/>
                    <a:lstStyle/>
                    <a:p>
                      <a:pPr algn="l"/>
                      <a:r>
                        <a:rPr sz="910" b="1">
                          <a:solidFill>
                            <a:srgbClr val="242A34"/>
                          </a:solidFill>
                          <a:latin typeface="Arial"/>
                        </a:rPr>
                        <a:t>Customer-impacting workflow changes</a:t>
                      </a:r>
                    </a:p>
                  </a:txBody>
                  <a:tcPr marL="64008" marR="64008" marT="45720" marB="45720">
                    <a:solidFill>
                      <a:srgbClr val="EBF0F7"/>
                    </a:solidFill>
                  </a:tcPr>
                </a:tc>
                <a:tc>
                  <a:txBody>
                    <a:bodyPr/>
                    <a:lstStyle/>
                    <a:p>
                      <a:pPr algn="l"/>
                      <a:r>
                        <a:rPr sz="910" b="0">
                          <a:solidFill>
                            <a:srgbClr val="242A34"/>
                          </a:solidFill>
                          <a:latin typeface="Arial"/>
                        </a:rPr>
                        <a:t>High explanation</a:t>
                      </a:r>
                    </a:p>
                  </a:txBody>
                  <a:tcPr marL="64008" marR="64008" marT="45720" marB="45720">
                    <a:solidFill>
                      <a:srgbClr val="FFFFFF"/>
                    </a:solidFill>
                  </a:tcPr>
                </a:tc>
                <a:tc>
                  <a:txBody>
                    <a:bodyPr/>
                    <a:lstStyle/>
                    <a:p>
                      <a:pPr algn="l"/>
                      <a:r>
                        <a:rPr sz="910" b="0">
                          <a:solidFill>
                            <a:srgbClr val="242A34"/>
                          </a:solidFill>
                          <a:latin typeface="Arial"/>
                        </a:rPr>
                        <a:t>Human approvers must understand why the action is safe.</a:t>
                      </a:r>
                    </a:p>
                  </a:txBody>
                  <a:tcPr marL="64008" marR="64008" marT="45720" marB="45720">
                    <a:solidFill>
                      <a:srgbClr val="FFFFFF"/>
                    </a:solidFill>
                  </a:tcPr>
                </a:tc>
              </a:tr>
              <a:tr h="786384">
                <a:tc>
                  <a:txBody>
                    <a:bodyPr/>
                    <a:lstStyle/>
                    <a:p>
                      <a:pPr algn="l"/>
                      <a:r>
                        <a:rPr sz="910" b="1">
                          <a:solidFill>
                            <a:srgbClr val="242A34"/>
                          </a:solidFill>
                          <a:latin typeface="Arial"/>
                        </a:rPr>
                        <a:t>Regulated or employment decisions</a:t>
                      </a:r>
                    </a:p>
                  </a:txBody>
                  <a:tcPr marL="64008" marR="64008" marT="45720" marB="45720">
                    <a:solidFill>
                      <a:srgbClr val="EBF0F7"/>
                    </a:solidFill>
                  </a:tcPr>
                </a:tc>
                <a:tc>
                  <a:txBody>
                    <a:bodyPr/>
                    <a:lstStyle/>
                    <a:p>
                      <a:pPr algn="l"/>
                      <a:r>
                        <a:rPr sz="910" b="0">
                          <a:solidFill>
                            <a:srgbClr val="242A34"/>
                          </a:solidFill>
                          <a:latin typeface="Arial"/>
                        </a:rPr>
                        <a:t>Strong explanation + appeal</a:t>
                      </a:r>
                    </a:p>
                  </a:txBody>
                  <a:tcPr marL="64008" marR="64008" marT="45720" marB="45720">
                    <a:solidFill>
                      <a:srgbClr val="E6EFFA"/>
                    </a:solidFill>
                  </a:tcPr>
                </a:tc>
                <a:tc>
                  <a:txBody>
                    <a:bodyPr/>
                    <a:lstStyle/>
                    <a:p>
                      <a:pPr algn="l"/>
                      <a:r>
                        <a:rPr sz="910" b="0">
                          <a:solidFill>
                            <a:srgbClr val="242A34"/>
                          </a:solidFill>
                          <a:latin typeface="Arial"/>
                        </a:rPr>
                        <a:t>Affected people need reasoning and recourse.</a:t>
                      </a:r>
                    </a:p>
                  </a:txBody>
                  <a:tcPr marL="64008" marR="64008" marT="45720" marB="45720">
                    <a:solidFill>
                      <a:srgbClr val="E6EFFA"/>
                    </a:solidFill>
                  </a:tcPr>
                </a:tc>
              </a:tr>
              <a:tr h="786384">
                <a:tc>
                  <a:txBody>
                    <a:bodyPr/>
                    <a:lstStyle/>
                    <a:p>
                      <a:pPr algn="l"/>
                      <a:r>
                        <a:rPr sz="910" b="1">
                          <a:solidFill>
                            <a:srgbClr val="242A34"/>
                          </a:solidFill>
                          <a:latin typeface="Arial"/>
                        </a:rPr>
                        <a:t>Internal infrastructure tuning</a:t>
                      </a:r>
                    </a:p>
                  </a:txBody>
                  <a:tcPr marL="64008" marR="64008" marT="45720" marB="45720">
                    <a:solidFill>
                      <a:srgbClr val="EBF0F7"/>
                    </a:solidFill>
                  </a:tcPr>
                </a:tc>
                <a:tc>
                  <a:txBody>
                    <a:bodyPr/>
                    <a:lstStyle/>
                    <a:p>
                      <a:pPr algn="l"/>
                      <a:r>
                        <a:rPr sz="910" b="0">
                          <a:solidFill>
                            <a:srgbClr val="242A34"/>
                          </a:solidFill>
                          <a:latin typeface="Arial"/>
                        </a:rPr>
                        <a:t>Limited user explanation</a:t>
                      </a:r>
                    </a:p>
                  </a:txBody>
                  <a:tcPr marL="64008" marR="64008" marT="45720" marB="45720">
                    <a:solidFill>
                      <a:srgbClr val="FFFFFF"/>
                    </a:solidFill>
                  </a:tcPr>
                </a:tc>
                <a:tc>
                  <a:txBody>
                    <a:bodyPr/>
                    <a:lstStyle/>
                    <a:p>
                      <a:pPr algn="l"/>
                      <a:r>
                        <a:rPr sz="910" b="0">
                          <a:solidFill>
                            <a:srgbClr val="242A34"/>
                          </a:solidFill>
                          <a:latin typeface="Arial"/>
                        </a:rPr>
                        <a:t>Still needs audit logs and monitoring, but less user-facing detail.</a:t>
                      </a:r>
                    </a:p>
                  </a:txBody>
                  <a:tcPr marL="64008" marR="64008" marT="45720" marB="45720">
                    <a:solidFill>
                      <a:srgbClr val="FFFFFF"/>
                    </a:solidFill>
                  </a:tcPr>
                </a:tc>
              </a:tr>
            </a:tbl>
          </a:graphicData>
        </a:graphic>
      </p:graphicFrame>
      <p:sp>
        <p:nvSpPr>
          <p:cNvPr id="7" name="TextBox 6"/>
          <p:cNvSpPr txBox="1"/>
          <p:nvPr/>
        </p:nvSpPr>
        <p:spPr>
          <a:xfrm>
            <a:off x="777240" y="5897880"/>
            <a:ext cx="10652760" cy="320040"/>
          </a:xfrm>
          <a:prstGeom prst="rect">
            <a:avLst/>
          </a:prstGeom>
          <a:noFill/>
        </p:spPr>
        <p:txBody>
          <a:bodyPr wrap="square" lIns="36576" rIns="36576" tIns="27432" bIns="27432">
            <a:normAutofit/>
          </a:bodyPr>
          <a:lstStyle/>
          <a:p>
            <a:pPr algn="ctr">
              <a:defRPr sz="1260" b="1">
                <a:solidFill>
                  <a:srgbClr val="121F30"/>
                </a:solidFill>
                <a:latin typeface="Arial"/>
              </a:defRPr>
            </a:pPr>
            <a:r>
              <a:t>Nexora rule: if an AI output affects customers, employees, regulated workflows, or production systems, explanation cannot be optional.</a:t>
            </a:r>
          </a:p>
        </p:txBody>
      </p:sp>
      <p:sp>
        <p:nvSpPr>
          <p:cNvPr id="8" name="TextBox 7"/>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Sources: Han, 2026; Microsoft, n.d.; IBM, 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Evaluation Process for Transparency and Explainability</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A product cannot launch until the explanation is useful for the people who must rely on it.</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6</a:t>
            </a:r>
          </a:p>
        </p:txBody>
      </p:sp>
      <p:sp>
        <p:nvSpPr>
          <p:cNvPr id="6" name="Rounded Rectangle 5"/>
          <p:cNvSpPr/>
          <p:nvPr/>
        </p:nvSpPr>
        <p:spPr>
          <a:xfrm>
            <a:off x="621792" y="1417320"/>
            <a:ext cx="3429000" cy="1051560"/>
          </a:xfrm>
          <a:prstGeom prst="roundRect">
            <a:avLst/>
          </a:prstGeom>
          <a:solidFill>
            <a:srgbClr val="FFFFFF"/>
          </a:solidFill>
          <a:ln w="1143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8952" y="1554480"/>
            <a:ext cx="384048" cy="384048"/>
          </a:xfrm>
          <a:prstGeom prst="ellipse">
            <a:avLst/>
          </a:prstGeom>
          <a:solidFill>
            <a:srgbClr val="2F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1</a:t>
            </a:r>
          </a:p>
        </p:txBody>
      </p:sp>
      <p:sp>
        <p:nvSpPr>
          <p:cNvPr id="8" name="TextBox 7"/>
          <p:cNvSpPr txBox="1"/>
          <p:nvPr/>
        </p:nvSpPr>
        <p:spPr>
          <a:xfrm>
            <a:off x="1280160" y="1554480"/>
            <a:ext cx="2606040" cy="228600"/>
          </a:xfrm>
          <a:prstGeom prst="rect">
            <a:avLst/>
          </a:prstGeom>
          <a:noFill/>
        </p:spPr>
        <p:txBody>
          <a:bodyPr wrap="square" lIns="36576" rIns="36576" tIns="27432" bIns="27432">
            <a:normAutofit/>
          </a:bodyPr>
          <a:lstStyle/>
          <a:p>
            <a:pPr algn="l">
              <a:defRPr sz="1050" b="1">
                <a:solidFill>
                  <a:srgbClr val="242A34"/>
                </a:solidFill>
                <a:latin typeface="Arial"/>
              </a:defRPr>
            </a:pPr>
            <a:r>
              <a:t>Classify use case</a:t>
            </a:r>
          </a:p>
        </p:txBody>
      </p:sp>
      <p:sp>
        <p:nvSpPr>
          <p:cNvPr id="9" name="TextBox 8"/>
          <p:cNvSpPr txBox="1"/>
          <p:nvPr/>
        </p:nvSpPr>
        <p:spPr>
          <a:xfrm>
            <a:off x="1280160" y="1856232"/>
            <a:ext cx="2606040" cy="438912"/>
          </a:xfrm>
          <a:prstGeom prst="rect">
            <a:avLst/>
          </a:prstGeom>
          <a:noFill/>
        </p:spPr>
        <p:txBody>
          <a:bodyPr wrap="square" lIns="36576" rIns="36576" tIns="27432" bIns="27432">
            <a:normAutofit/>
          </a:bodyPr>
          <a:lstStyle/>
          <a:p>
            <a:pPr algn="l">
              <a:defRPr sz="860" b="0">
                <a:solidFill>
                  <a:srgbClr val="697480"/>
                </a:solidFill>
                <a:latin typeface="Arial"/>
              </a:defRPr>
            </a:pPr>
            <a:r>
              <a:t>Stakeholders, autonomy, customer impact, and data sensitivity.</a:t>
            </a:r>
          </a:p>
        </p:txBody>
      </p:sp>
      <p:sp>
        <p:nvSpPr>
          <p:cNvPr id="10" name="Right Arrow 9"/>
          <p:cNvSpPr/>
          <p:nvPr/>
        </p:nvSpPr>
        <p:spPr>
          <a:xfrm>
            <a:off x="4123944" y="1828800"/>
            <a:ext cx="411480" cy="228600"/>
          </a:xfrm>
          <a:prstGeom prst="rightArrow">
            <a:avLst/>
          </a:prstGeom>
          <a:solidFill>
            <a:srgbClr val="AFB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89704" y="1417320"/>
            <a:ext cx="3429000" cy="1051560"/>
          </a:xfrm>
          <a:prstGeom prst="roundRect">
            <a:avLst/>
          </a:prstGeom>
          <a:solidFill>
            <a:srgbClr val="FFFFFF"/>
          </a:solidFill>
          <a:ln w="1143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26864" y="1554480"/>
            <a:ext cx="384048" cy="384048"/>
          </a:xfrm>
          <a:prstGeom prst="ellipse">
            <a:avLst/>
          </a:prstGeom>
          <a:solidFill>
            <a:srgbClr val="26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2</a:t>
            </a:r>
          </a:p>
        </p:txBody>
      </p:sp>
      <p:sp>
        <p:nvSpPr>
          <p:cNvPr id="13" name="TextBox 12"/>
          <p:cNvSpPr txBox="1"/>
          <p:nvPr/>
        </p:nvSpPr>
        <p:spPr>
          <a:xfrm>
            <a:off x="5148072" y="1554480"/>
            <a:ext cx="2606040" cy="228600"/>
          </a:xfrm>
          <a:prstGeom prst="rect">
            <a:avLst/>
          </a:prstGeom>
          <a:noFill/>
        </p:spPr>
        <p:txBody>
          <a:bodyPr wrap="square" lIns="36576" rIns="36576" tIns="27432" bIns="27432">
            <a:normAutofit/>
          </a:bodyPr>
          <a:lstStyle/>
          <a:p>
            <a:pPr algn="l">
              <a:defRPr sz="1050" b="1">
                <a:solidFill>
                  <a:srgbClr val="242A34"/>
                </a:solidFill>
                <a:latin typeface="Arial"/>
              </a:defRPr>
            </a:pPr>
            <a:r>
              <a:t>Define audience</a:t>
            </a:r>
          </a:p>
        </p:txBody>
      </p:sp>
      <p:sp>
        <p:nvSpPr>
          <p:cNvPr id="14" name="TextBox 13"/>
          <p:cNvSpPr txBox="1"/>
          <p:nvPr/>
        </p:nvSpPr>
        <p:spPr>
          <a:xfrm>
            <a:off x="5148072" y="1856232"/>
            <a:ext cx="2606040" cy="438912"/>
          </a:xfrm>
          <a:prstGeom prst="rect">
            <a:avLst/>
          </a:prstGeom>
          <a:noFill/>
        </p:spPr>
        <p:txBody>
          <a:bodyPr wrap="square" lIns="36576" rIns="36576" tIns="27432" bIns="27432">
            <a:normAutofit/>
          </a:bodyPr>
          <a:lstStyle/>
          <a:p>
            <a:pPr algn="l">
              <a:defRPr sz="860" b="0">
                <a:solidFill>
                  <a:srgbClr val="697480"/>
                </a:solidFill>
                <a:latin typeface="Arial"/>
              </a:defRPr>
            </a:pPr>
            <a:r>
              <a:t>Engineer, customer admin, end user, reviewer, or affected individual.</a:t>
            </a:r>
          </a:p>
        </p:txBody>
      </p:sp>
      <p:sp>
        <p:nvSpPr>
          <p:cNvPr id="15" name="Right Arrow 14"/>
          <p:cNvSpPr/>
          <p:nvPr/>
        </p:nvSpPr>
        <p:spPr>
          <a:xfrm>
            <a:off x="7991856" y="1828800"/>
            <a:ext cx="411480" cy="228600"/>
          </a:xfrm>
          <a:prstGeom prst="rightArrow">
            <a:avLst/>
          </a:prstGeom>
          <a:solidFill>
            <a:srgbClr val="AFB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57616" y="1417320"/>
            <a:ext cx="3429000" cy="1051560"/>
          </a:xfrm>
          <a:prstGeom prst="roundRect">
            <a:avLst/>
          </a:prstGeom>
          <a:solidFill>
            <a:srgbClr val="FFFFFF"/>
          </a:solidFill>
          <a:ln w="1143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94776" y="1554480"/>
            <a:ext cx="384048" cy="384048"/>
          </a:xfrm>
          <a:prstGeom prst="ellipse">
            <a:avLst/>
          </a:prstGeom>
          <a:solidFill>
            <a:srgbClr val="D5A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3</a:t>
            </a:r>
          </a:p>
        </p:txBody>
      </p:sp>
      <p:sp>
        <p:nvSpPr>
          <p:cNvPr id="18" name="TextBox 17"/>
          <p:cNvSpPr txBox="1"/>
          <p:nvPr/>
        </p:nvSpPr>
        <p:spPr>
          <a:xfrm>
            <a:off x="9015984" y="1554480"/>
            <a:ext cx="2606040" cy="228600"/>
          </a:xfrm>
          <a:prstGeom prst="rect">
            <a:avLst/>
          </a:prstGeom>
          <a:noFill/>
        </p:spPr>
        <p:txBody>
          <a:bodyPr wrap="square" lIns="36576" rIns="36576" tIns="27432" bIns="27432">
            <a:normAutofit/>
          </a:bodyPr>
          <a:lstStyle/>
          <a:p>
            <a:pPr algn="l">
              <a:defRPr sz="1050" b="1">
                <a:solidFill>
                  <a:srgbClr val="242A34"/>
                </a:solidFill>
                <a:latin typeface="Arial"/>
              </a:defRPr>
            </a:pPr>
            <a:r>
              <a:t>Set explanation standard</a:t>
            </a:r>
          </a:p>
        </p:txBody>
      </p:sp>
      <p:sp>
        <p:nvSpPr>
          <p:cNvPr id="19" name="TextBox 18"/>
          <p:cNvSpPr txBox="1"/>
          <p:nvPr/>
        </p:nvSpPr>
        <p:spPr>
          <a:xfrm>
            <a:off x="9015984" y="1856232"/>
            <a:ext cx="2606040" cy="438912"/>
          </a:xfrm>
          <a:prstGeom prst="rect">
            <a:avLst/>
          </a:prstGeom>
          <a:noFill/>
        </p:spPr>
        <p:txBody>
          <a:bodyPr wrap="square" lIns="36576" rIns="36576" tIns="27432" bIns="27432">
            <a:normAutofit/>
          </a:bodyPr>
          <a:lstStyle/>
          <a:p>
            <a:pPr algn="l">
              <a:defRPr sz="860" b="0">
                <a:solidFill>
                  <a:srgbClr val="697480"/>
                </a:solidFill>
                <a:latin typeface="Arial"/>
              </a:defRPr>
            </a:pPr>
            <a:r>
              <a:t>What rationale, confidence, limits, and recourse are needed?</a:t>
            </a:r>
          </a:p>
        </p:txBody>
      </p:sp>
      <p:sp>
        <p:nvSpPr>
          <p:cNvPr id="20" name="Rounded Rectangle 19"/>
          <p:cNvSpPr/>
          <p:nvPr/>
        </p:nvSpPr>
        <p:spPr>
          <a:xfrm>
            <a:off x="621792" y="3383280"/>
            <a:ext cx="3429000" cy="1051560"/>
          </a:xfrm>
          <a:prstGeom prst="roundRect">
            <a:avLst/>
          </a:prstGeom>
          <a:solidFill>
            <a:srgbClr val="FFFFFF"/>
          </a:solidFill>
          <a:ln w="1143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8952" y="3520440"/>
            <a:ext cx="384048" cy="384048"/>
          </a:xfrm>
          <a:prstGeom prst="ellipse">
            <a:avLst/>
          </a:prstGeom>
          <a:solidFill>
            <a:srgbClr val="538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4</a:t>
            </a:r>
          </a:p>
        </p:txBody>
      </p:sp>
      <p:sp>
        <p:nvSpPr>
          <p:cNvPr id="22" name="TextBox 21"/>
          <p:cNvSpPr txBox="1"/>
          <p:nvPr/>
        </p:nvSpPr>
        <p:spPr>
          <a:xfrm>
            <a:off x="1280160" y="3520440"/>
            <a:ext cx="2606040" cy="228600"/>
          </a:xfrm>
          <a:prstGeom prst="rect">
            <a:avLst/>
          </a:prstGeom>
          <a:noFill/>
        </p:spPr>
        <p:txBody>
          <a:bodyPr wrap="square" lIns="36576" rIns="36576" tIns="27432" bIns="27432">
            <a:normAutofit/>
          </a:bodyPr>
          <a:lstStyle/>
          <a:p>
            <a:pPr algn="l">
              <a:defRPr sz="1050" b="1">
                <a:solidFill>
                  <a:srgbClr val="242A34"/>
                </a:solidFill>
                <a:latin typeface="Arial"/>
              </a:defRPr>
            </a:pPr>
            <a:r>
              <a:t>Test usefulness</a:t>
            </a:r>
          </a:p>
        </p:txBody>
      </p:sp>
      <p:sp>
        <p:nvSpPr>
          <p:cNvPr id="23" name="TextBox 22"/>
          <p:cNvSpPr txBox="1"/>
          <p:nvPr/>
        </p:nvSpPr>
        <p:spPr>
          <a:xfrm>
            <a:off x="1280160" y="3822191"/>
            <a:ext cx="2606040" cy="438912"/>
          </a:xfrm>
          <a:prstGeom prst="rect">
            <a:avLst/>
          </a:prstGeom>
          <a:noFill/>
        </p:spPr>
        <p:txBody>
          <a:bodyPr wrap="square" lIns="36576" rIns="36576" tIns="27432" bIns="27432">
            <a:normAutofit/>
          </a:bodyPr>
          <a:lstStyle/>
          <a:p>
            <a:pPr algn="l">
              <a:defRPr sz="860" b="0">
                <a:solidFill>
                  <a:srgbClr val="697480"/>
                </a:solidFill>
                <a:latin typeface="Arial"/>
              </a:defRPr>
            </a:pPr>
            <a:r>
              <a:t>Can target users understand, verify, challenge, or override the output?</a:t>
            </a:r>
          </a:p>
        </p:txBody>
      </p:sp>
      <p:sp>
        <p:nvSpPr>
          <p:cNvPr id="24" name="Right Arrow 23"/>
          <p:cNvSpPr/>
          <p:nvPr/>
        </p:nvSpPr>
        <p:spPr>
          <a:xfrm>
            <a:off x="4123944" y="3794760"/>
            <a:ext cx="411480" cy="228600"/>
          </a:xfrm>
          <a:prstGeom prst="rightArrow">
            <a:avLst/>
          </a:prstGeom>
          <a:solidFill>
            <a:srgbClr val="AFB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89704" y="3383280"/>
            <a:ext cx="3429000" cy="1051560"/>
          </a:xfrm>
          <a:prstGeom prst="roundRect">
            <a:avLst/>
          </a:prstGeom>
          <a:solidFill>
            <a:srgbClr val="FFFFFF"/>
          </a:solidFill>
          <a:ln w="1143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26864" y="3520440"/>
            <a:ext cx="384048" cy="384048"/>
          </a:xfrm>
          <a:prstGeom prst="ellipse">
            <a:avLst/>
          </a:prstGeom>
          <a:solidFill>
            <a:srgbClr val="AB5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5</a:t>
            </a:r>
          </a:p>
        </p:txBody>
      </p:sp>
      <p:sp>
        <p:nvSpPr>
          <p:cNvPr id="27" name="TextBox 26"/>
          <p:cNvSpPr txBox="1"/>
          <p:nvPr/>
        </p:nvSpPr>
        <p:spPr>
          <a:xfrm>
            <a:off x="5148072" y="3520440"/>
            <a:ext cx="2606040" cy="228600"/>
          </a:xfrm>
          <a:prstGeom prst="rect">
            <a:avLst/>
          </a:prstGeom>
          <a:noFill/>
        </p:spPr>
        <p:txBody>
          <a:bodyPr wrap="square" lIns="36576" rIns="36576" tIns="27432" bIns="27432">
            <a:normAutofit/>
          </a:bodyPr>
          <a:lstStyle/>
          <a:p>
            <a:pPr algn="l">
              <a:defRPr sz="1050" b="1">
                <a:solidFill>
                  <a:srgbClr val="242A34"/>
                </a:solidFill>
                <a:latin typeface="Arial"/>
              </a:defRPr>
            </a:pPr>
            <a:r>
              <a:t>Approve / limit / block</a:t>
            </a:r>
          </a:p>
        </p:txBody>
      </p:sp>
      <p:sp>
        <p:nvSpPr>
          <p:cNvPr id="28" name="TextBox 27"/>
          <p:cNvSpPr txBox="1"/>
          <p:nvPr/>
        </p:nvSpPr>
        <p:spPr>
          <a:xfrm>
            <a:off x="5148072" y="3822191"/>
            <a:ext cx="2606040" cy="438912"/>
          </a:xfrm>
          <a:prstGeom prst="rect">
            <a:avLst/>
          </a:prstGeom>
          <a:noFill/>
        </p:spPr>
        <p:txBody>
          <a:bodyPr wrap="square" lIns="36576" rIns="36576" tIns="27432" bIns="27432">
            <a:normAutofit/>
          </a:bodyPr>
          <a:lstStyle/>
          <a:p>
            <a:pPr algn="l">
              <a:defRPr sz="860" b="0">
                <a:solidFill>
                  <a:srgbClr val="697480"/>
                </a:solidFill>
                <a:latin typeface="Arial"/>
              </a:defRPr>
            </a:pPr>
            <a:r>
              <a:t>Set release limits, human approval, monitoring, and rollback rules.</a:t>
            </a:r>
          </a:p>
        </p:txBody>
      </p:sp>
      <p:sp>
        <p:nvSpPr>
          <p:cNvPr id="29" name="Right Arrow 28"/>
          <p:cNvSpPr/>
          <p:nvPr/>
        </p:nvSpPr>
        <p:spPr>
          <a:xfrm>
            <a:off x="7991856" y="3794760"/>
            <a:ext cx="411480" cy="228600"/>
          </a:xfrm>
          <a:prstGeom prst="rightArrow">
            <a:avLst/>
          </a:prstGeom>
          <a:solidFill>
            <a:srgbClr val="AFB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57616" y="3383280"/>
            <a:ext cx="3429000" cy="1051560"/>
          </a:xfrm>
          <a:prstGeom prst="roundRect">
            <a:avLst/>
          </a:prstGeom>
          <a:solidFill>
            <a:srgbClr val="FFFFFF"/>
          </a:solidFill>
          <a:ln w="1143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94776" y="3520440"/>
            <a:ext cx="384048" cy="384048"/>
          </a:xfrm>
          <a:prstGeom prst="ellipse">
            <a:avLst/>
          </a:prstGeom>
          <a:solidFill>
            <a:srgbClr val="705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6</a:t>
            </a:r>
          </a:p>
        </p:txBody>
      </p:sp>
      <p:sp>
        <p:nvSpPr>
          <p:cNvPr id="32" name="TextBox 31"/>
          <p:cNvSpPr txBox="1"/>
          <p:nvPr/>
        </p:nvSpPr>
        <p:spPr>
          <a:xfrm>
            <a:off x="9015984" y="3520440"/>
            <a:ext cx="2606040" cy="228600"/>
          </a:xfrm>
          <a:prstGeom prst="rect">
            <a:avLst/>
          </a:prstGeom>
          <a:noFill/>
        </p:spPr>
        <p:txBody>
          <a:bodyPr wrap="square" lIns="36576" rIns="36576" tIns="27432" bIns="27432">
            <a:normAutofit/>
          </a:bodyPr>
          <a:lstStyle/>
          <a:p>
            <a:pPr algn="l">
              <a:defRPr sz="1050" b="1">
                <a:solidFill>
                  <a:srgbClr val="242A34"/>
                </a:solidFill>
                <a:latin typeface="Arial"/>
              </a:defRPr>
            </a:pPr>
            <a:r>
              <a:t>Monitor after launch</a:t>
            </a:r>
          </a:p>
        </p:txBody>
      </p:sp>
      <p:sp>
        <p:nvSpPr>
          <p:cNvPr id="33" name="TextBox 32"/>
          <p:cNvSpPr txBox="1"/>
          <p:nvPr/>
        </p:nvSpPr>
        <p:spPr>
          <a:xfrm>
            <a:off x="9015984" y="3822191"/>
            <a:ext cx="2606040" cy="438912"/>
          </a:xfrm>
          <a:prstGeom prst="rect">
            <a:avLst/>
          </a:prstGeom>
          <a:noFill/>
        </p:spPr>
        <p:txBody>
          <a:bodyPr wrap="square" lIns="36576" rIns="36576" tIns="27432" bIns="27432">
            <a:normAutofit/>
          </a:bodyPr>
          <a:lstStyle/>
          <a:p>
            <a:pPr algn="l">
              <a:defRPr sz="860" b="0">
                <a:solidFill>
                  <a:srgbClr val="697480"/>
                </a:solidFill>
                <a:latin typeface="Arial"/>
              </a:defRPr>
            </a:pPr>
            <a:r>
              <a:t>Track overrides, complaints, incidents, drift, and explanation failures.</a:t>
            </a:r>
          </a:p>
        </p:txBody>
      </p:sp>
      <p:sp>
        <p:nvSpPr>
          <p:cNvPr id="34" name="TextBox 33"/>
          <p:cNvSpPr txBox="1"/>
          <p:nvPr/>
        </p:nvSpPr>
        <p:spPr>
          <a:xfrm>
            <a:off x="822960" y="5806440"/>
            <a:ext cx="10515600" cy="411480"/>
          </a:xfrm>
          <a:prstGeom prst="rect">
            <a:avLst/>
          </a:prstGeom>
          <a:noFill/>
        </p:spPr>
        <p:txBody>
          <a:bodyPr wrap="square" lIns="36576" rIns="36576" tIns="27432" bIns="27432">
            <a:normAutofit/>
          </a:bodyPr>
          <a:lstStyle/>
          <a:p>
            <a:pPr algn="ctr">
              <a:defRPr sz="1340" b="1">
                <a:solidFill>
                  <a:srgbClr val="121F30"/>
                </a:solidFill>
                <a:latin typeface="Arial"/>
              </a:defRPr>
            </a:pPr>
            <a:r>
              <a:t>Sufficient transparency means the right audience can act responsibly, not that every model detail is exposed to every user.</a:t>
            </a:r>
          </a:p>
        </p:txBody>
      </p:sp>
      <p:sp>
        <p:nvSpPr>
          <p:cNvPr id="35" name="TextBox 34"/>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Sources: Google, n.d.; IBM, n.d.; OpenAI,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Documentation Across AI Development</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Transparency is created through lifecycle evidence, not only through a customer-facing explanation.</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7</a:t>
            </a:r>
          </a:p>
        </p:txBody>
      </p:sp>
      <p:graphicFrame>
        <p:nvGraphicFramePr>
          <p:cNvPr id="6" name="Table 5"/>
          <p:cNvGraphicFramePr>
            <a:graphicFrameLocks noGrp="1"/>
          </p:cNvGraphicFramePr>
          <p:nvPr/>
        </p:nvGraphicFramePr>
        <p:xfrm>
          <a:off x="749808" y="1207008"/>
          <a:ext cx="10652760" cy="4471415"/>
        </p:xfrm>
        <a:graphic>
          <a:graphicData uri="http://schemas.openxmlformats.org/drawingml/2006/table">
            <a:tbl>
              <a:tblPr firstRow="1" bandRow="1">
                <a:tableStyleId>{5C22544A-7EE6-4342-B048-85BDC9FD1C3A}</a:tableStyleId>
              </a:tblPr>
              <a:tblGrid>
                <a:gridCol w="1828800"/>
                <a:gridCol w="8823960"/>
              </a:tblGrid>
              <a:tr h="521207">
                <a:tc>
                  <a:txBody>
                    <a:bodyPr/>
                    <a:lstStyle/>
                    <a:p>
                      <a:pPr algn="l"/>
                      <a:r>
                        <a:rPr sz="1070" b="1">
                          <a:solidFill>
                            <a:srgbClr val="FFFFFF"/>
                          </a:solidFill>
                          <a:latin typeface="Arial"/>
                        </a:rPr>
                        <a:t>Stage</a:t>
                      </a:r>
                    </a:p>
                  </a:txBody>
                  <a:tcPr marL="64008" marR="64008" marT="45720" marB="45720">
                    <a:solidFill>
                      <a:srgbClr val="121F30"/>
                    </a:solidFill>
                  </a:tcPr>
                </a:tc>
                <a:tc>
                  <a:txBody>
                    <a:bodyPr/>
                    <a:lstStyle/>
                    <a:p>
                      <a:pPr algn="l"/>
                      <a:r>
                        <a:rPr sz="1070" b="1">
                          <a:solidFill>
                            <a:srgbClr val="FFFFFF"/>
                          </a:solidFill>
                          <a:latin typeface="Arial"/>
                        </a:rPr>
                        <a:t>Documentation to promote transparency</a:t>
                      </a:r>
                    </a:p>
                  </a:txBody>
                  <a:tcPr marL="64008" marR="64008" marT="45720" marB="45720">
                    <a:solidFill>
                      <a:srgbClr val="121F30"/>
                    </a:solidFill>
                  </a:tcPr>
                </a:tc>
              </a:tr>
              <a:tr h="658368">
                <a:tc>
                  <a:txBody>
                    <a:bodyPr/>
                    <a:lstStyle/>
                    <a:p>
                      <a:pPr algn="l"/>
                      <a:r>
                        <a:rPr sz="960" b="1">
                          <a:solidFill>
                            <a:srgbClr val="242A34"/>
                          </a:solidFill>
                          <a:latin typeface="Arial"/>
                        </a:rPr>
                        <a:t>Intake</a:t>
                      </a:r>
                    </a:p>
                  </a:txBody>
                  <a:tcPr marL="64008" marR="64008" marT="45720" marB="45720">
                    <a:solidFill>
                      <a:srgbClr val="EBF0F7"/>
                    </a:solidFill>
                  </a:tcPr>
                </a:tc>
                <a:tc>
                  <a:txBody>
                    <a:bodyPr/>
                    <a:lstStyle/>
                    <a:p>
                      <a:pPr algn="l"/>
                      <a:r>
                        <a:rPr sz="960" b="0">
                          <a:solidFill>
                            <a:srgbClr val="242A34"/>
                          </a:solidFill>
                          <a:latin typeface="Arial"/>
                        </a:rPr>
                        <a:t>Purpose, stakeholders, intended use, prohibited use, risk owner.</a:t>
                      </a:r>
                    </a:p>
                  </a:txBody>
                  <a:tcPr marL="64008" marR="64008" marT="45720" marB="45720">
                    <a:solidFill>
                      <a:srgbClr val="FFFFFF"/>
                    </a:solidFill>
                  </a:tcPr>
                </a:tc>
              </a:tr>
              <a:tr h="658368">
                <a:tc>
                  <a:txBody>
                    <a:bodyPr/>
                    <a:lstStyle/>
                    <a:p>
                      <a:pPr algn="l"/>
                      <a:r>
                        <a:rPr sz="960" b="1">
                          <a:solidFill>
                            <a:srgbClr val="242A34"/>
                          </a:solidFill>
                          <a:latin typeface="Arial"/>
                        </a:rPr>
                        <a:t>Data review</a:t>
                      </a:r>
                    </a:p>
                  </a:txBody>
                  <a:tcPr marL="64008" marR="64008" marT="45720" marB="45720">
                    <a:solidFill>
                      <a:srgbClr val="EBF0F7"/>
                    </a:solidFill>
                  </a:tcPr>
                </a:tc>
                <a:tc>
                  <a:txBody>
                    <a:bodyPr/>
                    <a:lstStyle/>
                    <a:p>
                      <a:pPr algn="l"/>
                      <a:r>
                        <a:rPr sz="960" b="0">
                          <a:solidFill>
                            <a:srgbClr val="242A34"/>
                          </a:solidFill>
                          <a:latin typeface="Arial"/>
                        </a:rPr>
                        <a:t>Data sources, authorization, privacy limits, retention, tenant isolation.</a:t>
                      </a:r>
                    </a:p>
                  </a:txBody>
                  <a:tcPr marL="64008" marR="64008" marT="45720" marB="45720">
                    <a:solidFill>
                      <a:srgbClr val="E6EFFA"/>
                    </a:solidFill>
                  </a:tcPr>
                </a:tc>
              </a:tr>
              <a:tr h="658368">
                <a:tc>
                  <a:txBody>
                    <a:bodyPr/>
                    <a:lstStyle/>
                    <a:p>
                      <a:pPr algn="l"/>
                      <a:r>
                        <a:rPr sz="960" b="1">
                          <a:solidFill>
                            <a:srgbClr val="242A34"/>
                          </a:solidFill>
                          <a:latin typeface="Arial"/>
                        </a:rPr>
                        <a:t>Model design</a:t>
                      </a:r>
                    </a:p>
                  </a:txBody>
                  <a:tcPr marL="64008" marR="64008" marT="45720" marB="45720">
                    <a:solidFill>
                      <a:srgbClr val="EBF0F7"/>
                    </a:solidFill>
                  </a:tcPr>
                </a:tc>
                <a:tc>
                  <a:txBody>
                    <a:bodyPr/>
                    <a:lstStyle/>
                    <a:p>
                      <a:pPr algn="l"/>
                      <a:r>
                        <a:rPr sz="960" b="0">
                          <a:solidFill>
                            <a:srgbClr val="242A34"/>
                          </a:solidFill>
                          <a:latin typeface="Arial"/>
                        </a:rPr>
                        <a:t>Model choice, explanation method, human approval path, limitations.</a:t>
                      </a:r>
                    </a:p>
                  </a:txBody>
                  <a:tcPr marL="64008" marR="64008" marT="45720" marB="45720">
                    <a:solidFill>
                      <a:srgbClr val="FFFFFF"/>
                    </a:solidFill>
                  </a:tcPr>
                </a:tc>
              </a:tr>
              <a:tr h="658368">
                <a:tc>
                  <a:txBody>
                    <a:bodyPr/>
                    <a:lstStyle/>
                    <a:p>
                      <a:pPr algn="l"/>
                      <a:r>
                        <a:rPr sz="960" b="1">
                          <a:solidFill>
                            <a:srgbClr val="242A34"/>
                          </a:solidFill>
                          <a:latin typeface="Arial"/>
                        </a:rPr>
                        <a:t>Testing</a:t>
                      </a:r>
                    </a:p>
                  </a:txBody>
                  <a:tcPr marL="64008" marR="64008" marT="45720" marB="45720">
                    <a:solidFill>
                      <a:srgbClr val="EBF0F7"/>
                    </a:solidFill>
                  </a:tcPr>
                </a:tc>
                <a:tc>
                  <a:txBody>
                    <a:bodyPr/>
                    <a:lstStyle/>
                    <a:p>
                      <a:pPr algn="l"/>
                      <a:r>
                        <a:rPr sz="960" b="0">
                          <a:solidFill>
                            <a:srgbClr val="242A34"/>
                          </a:solidFill>
                          <a:latin typeface="Arial"/>
                        </a:rPr>
                        <a:t>Accuracy, robustness, bias checks, failure modes, explanation quality.</a:t>
                      </a:r>
                    </a:p>
                  </a:txBody>
                  <a:tcPr marL="64008" marR="64008" marT="45720" marB="45720">
                    <a:solidFill>
                      <a:srgbClr val="E6EFFA"/>
                    </a:solidFill>
                  </a:tcPr>
                </a:tc>
              </a:tr>
              <a:tr h="658368">
                <a:tc>
                  <a:txBody>
                    <a:bodyPr/>
                    <a:lstStyle/>
                    <a:p>
                      <a:pPr algn="l"/>
                      <a:r>
                        <a:rPr sz="960" b="1">
                          <a:solidFill>
                            <a:srgbClr val="242A34"/>
                          </a:solidFill>
                          <a:latin typeface="Arial"/>
                        </a:rPr>
                        <a:t>Deployment</a:t>
                      </a:r>
                    </a:p>
                  </a:txBody>
                  <a:tcPr marL="64008" marR="64008" marT="45720" marB="45720">
                    <a:solidFill>
                      <a:srgbClr val="EBF0F7"/>
                    </a:solidFill>
                  </a:tcPr>
                </a:tc>
                <a:tc>
                  <a:txBody>
                    <a:bodyPr/>
                    <a:lstStyle/>
                    <a:p>
                      <a:pPr algn="l"/>
                      <a:r>
                        <a:rPr sz="960" b="0">
                          <a:solidFill>
                            <a:srgbClr val="242A34"/>
                          </a:solidFill>
                          <a:latin typeface="Arial"/>
                        </a:rPr>
                        <a:t>User notice, confidence signals, release limits, support path.</a:t>
                      </a:r>
                    </a:p>
                  </a:txBody>
                  <a:tcPr marL="64008" marR="64008" marT="45720" marB="45720">
                    <a:solidFill>
                      <a:srgbClr val="FFFFFF"/>
                    </a:solidFill>
                  </a:tcPr>
                </a:tc>
              </a:tr>
              <a:tr h="658368">
                <a:tc>
                  <a:txBody>
                    <a:bodyPr/>
                    <a:lstStyle/>
                    <a:p>
                      <a:pPr algn="l"/>
                      <a:r>
                        <a:rPr sz="960" b="1">
                          <a:solidFill>
                            <a:srgbClr val="242A34"/>
                          </a:solidFill>
                          <a:latin typeface="Arial"/>
                        </a:rPr>
                        <a:t>Monitoring</a:t>
                      </a:r>
                    </a:p>
                  </a:txBody>
                  <a:tcPr marL="64008" marR="64008" marT="45720" marB="45720">
                    <a:solidFill>
                      <a:srgbClr val="EBF0F7"/>
                    </a:solidFill>
                  </a:tcPr>
                </a:tc>
                <a:tc>
                  <a:txBody>
                    <a:bodyPr/>
                    <a:lstStyle/>
                    <a:p>
                      <a:pPr algn="l"/>
                      <a:r>
                        <a:rPr sz="960" b="0">
                          <a:solidFill>
                            <a:srgbClr val="242A34"/>
                          </a:solidFill>
                          <a:latin typeface="Arial"/>
                        </a:rPr>
                        <a:t>Incidents, drift, overrides, complaints, audits, retirement criteria.</a:t>
                      </a:r>
                    </a:p>
                  </a:txBody>
                  <a:tcPr marL="64008" marR="64008" marT="45720" marB="45720">
                    <a:solidFill>
                      <a:srgbClr val="E6EFFA"/>
                    </a:solidFill>
                  </a:tcPr>
                </a:tc>
              </a:tr>
            </a:tbl>
          </a:graphicData>
        </a:graphic>
      </p:graphicFrame>
      <p:sp>
        <p:nvSpPr>
          <p:cNvPr id="7" name="TextBox 6"/>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Sources: Google, n.d.; Microsoft, n.d.; Salesforce, 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Concluding Reflection</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Difficulties and questions from Workshop 2.</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8</a:t>
            </a:r>
          </a:p>
        </p:txBody>
      </p:sp>
      <p:sp>
        <p:nvSpPr>
          <p:cNvPr id="6" name="TextBox 5"/>
          <p:cNvSpPr txBox="1"/>
          <p:nvPr/>
        </p:nvSpPr>
        <p:spPr>
          <a:xfrm>
            <a:off x="731520" y="1234440"/>
            <a:ext cx="10698480" cy="640080"/>
          </a:xfrm>
          <a:prstGeom prst="rect">
            <a:avLst/>
          </a:prstGeom>
          <a:noFill/>
        </p:spPr>
        <p:txBody>
          <a:bodyPr wrap="square" lIns="36576" rIns="36576" tIns="27432" bIns="27432">
            <a:normAutofit/>
          </a:bodyPr>
          <a:lstStyle/>
          <a:p>
            <a:pPr algn="l">
              <a:defRPr sz="2400" b="1">
                <a:solidFill>
                  <a:srgbClr val="121F30"/>
                </a:solidFill>
                <a:latin typeface="Arial"/>
              </a:defRPr>
            </a:pPr>
            <a:r>
              <a:t>The hardest part is deciding how much explanation is actually useful.</a:t>
            </a:r>
          </a:p>
        </p:txBody>
      </p:sp>
      <p:sp>
        <p:nvSpPr>
          <p:cNvPr id="7" name="TextBox 6"/>
          <p:cNvSpPr txBox="1"/>
          <p:nvPr/>
        </p:nvSpPr>
        <p:spPr>
          <a:xfrm>
            <a:off x="914400" y="2148840"/>
            <a:ext cx="10058400" cy="2423160"/>
          </a:xfrm>
          <a:prstGeom prst="rect">
            <a:avLst/>
          </a:prstGeom>
          <a:noFill/>
        </p:spPr>
        <p:txBody>
          <a:bodyPr wrap="square" lIns="45720" rIns="45720" tIns="18288" bIns="18288">
            <a:normAutofit/>
          </a:bodyPr>
          <a:lstStyle/>
          <a:p>
            <a:pPr>
              <a:spcAft>
                <a:spcPts val="600"/>
              </a:spcAft>
              <a:defRPr sz="1500">
                <a:solidFill>
                  <a:srgbClr val="242A34"/>
                </a:solidFill>
                <a:latin typeface="Arial"/>
              </a:defRPr>
            </a:pPr>
            <a:r>
              <a:t>A technical explanation can be accurate but useless to a customer. A short explanation can be readable but hide important limitations.</a:t>
            </a:r>
          </a:p>
          <a:p>
            <a:pPr>
              <a:spcAft>
                <a:spcPts val="600"/>
              </a:spcAft>
              <a:defRPr sz="1500">
                <a:solidFill>
                  <a:srgbClr val="242A34"/>
                </a:solidFill>
                <a:latin typeface="Arial"/>
              </a:defRPr>
            </a:pPr>
            <a:r>
              <a:t>For Nexora, the explanation has to fit the person using it: engineer, customer admin, compliance reviewer, or affected employee.</a:t>
            </a:r>
          </a:p>
          <a:p>
            <a:pPr>
              <a:spcAft>
                <a:spcPts val="600"/>
              </a:spcAft>
              <a:defRPr sz="1500">
                <a:solidFill>
                  <a:srgbClr val="242A34"/>
                </a:solidFill>
                <a:latin typeface="Arial"/>
              </a:defRPr>
            </a:pPr>
            <a:r>
              <a:t>I also see a cost tradeoff. Better explainability takes documentation, testing, UI design, and support processes. It is worth doing, but it has to be built into the product lifecycle instead of added at the end.</a:t>
            </a:r>
          </a:p>
        </p:txBody>
      </p:sp>
      <p:sp>
        <p:nvSpPr>
          <p:cNvPr id="8" name="TextBox 7"/>
          <p:cNvSpPr txBox="1"/>
          <p:nvPr/>
        </p:nvSpPr>
        <p:spPr>
          <a:xfrm>
            <a:off x="914400" y="5303520"/>
            <a:ext cx="10058400" cy="502920"/>
          </a:xfrm>
          <a:prstGeom prst="rect">
            <a:avLst/>
          </a:prstGeom>
          <a:noFill/>
        </p:spPr>
        <p:txBody>
          <a:bodyPr wrap="square" lIns="36576" rIns="36576" tIns="27432" bIns="27432">
            <a:normAutofit/>
          </a:bodyPr>
          <a:lstStyle/>
          <a:p>
            <a:pPr algn="ctr">
              <a:defRPr sz="1550" b="1">
                <a:solidFill>
                  <a:srgbClr val="2F66AA"/>
                </a:solidFill>
                <a:latin typeface="Arial"/>
              </a:defRPr>
            </a:pPr>
            <a:r>
              <a:t>Open question: when should Nexora block a model because it cannot explain itself well enough, even if its raw accuracy looks strong?</a:t>
            </a:r>
          </a:p>
        </p:txBody>
      </p:sp>
      <p:sp>
        <p:nvSpPr>
          <p:cNvPr id="9" name="TextBox 8"/>
          <p:cNvSpPr txBox="1"/>
          <p:nvPr/>
        </p:nvSpPr>
        <p:spPr>
          <a:xfrm>
            <a:off x="548640" y="6245352"/>
            <a:ext cx="10972800" cy="164592"/>
          </a:xfrm>
          <a:prstGeom prst="rect">
            <a:avLst/>
          </a:prstGeom>
          <a:noFill/>
        </p:spPr>
        <p:txBody>
          <a:bodyPr wrap="square" lIns="36576" rIns="36576" tIns="27432" bIns="27432">
            <a:normAutofit/>
          </a:bodyPr>
          <a:lstStyle/>
          <a:p>
            <a:pPr algn="r">
              <a:defRPr sz="670" b="0">
                <a:solidFill>
                  <a:srgbClr val="788291"/>
                </a:solidFill>
                <a:latin typeface="Arial"/>
              </a:defRPr>
            </a:pPr>
            <a:r>
              <a:t>Source: Personal reflection informed by Workshop 2 materials.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566928"/>
          </a:xfrm>
          <a:prstGeom prst="rect">
            <a:avLst/>
          </a:prstGeom>
          <a:noFill/>
        </p:spPr>
        <p:txBody>
          <a:bodyPr wrap="square" lIns="36576" rIns="36576" tIns="27432" bIns="27432">
            <a:normAutofit/>
          </a:bodyPr>
          <a:lstStyle/>
          <a:p>
            <a:pPr algn="l">
              <a:defRPr sz="2500" b="1">
                <a:solidFill>
                  <a:srgbClr val="242A34"/>
                </a:solidFill>
                <a:latin typeface="Arial"/>
              </a:defRPr>
            </a:pPr>
            <a:r>
              <a:t>References</a:t>
            </a:r>
          </a:p>
        </p:txBody>
      </p:sp>
      <p:sp>
        <p:nvSpPr>
          <p:cNvPr id="4" name="TextBox 3"/>
          <p:cNvSpPr txBox="1"/>
          <p:nvPr/>
        </p:nvSpPr>
        <p:spPr>
          <a:xfrm>
            <a:off x="530352" y="859536"/>
            <a:ext cx="10881360" cy="310896"/>
          </a:xfrm>
          <a:prstGeom prst="rect">
            <a:avLst/>
          </a:prstGeom>
          <a:noFill/>
        </p:spPr>
        <p:txBody>
          <a:bodyPr wrap="square" lIns="36576" rIns="36576" tIns="27432" bIns="27432">
            <a:normAutofit/>
          </a:bodyPr>
          <a:lstStyle/>
          <a:p>
            <a:pPr algn="l">
              <a:defRPr sz="1060" b="0">
                <a:solidFill>
                  <a:srgbClr val="697480"/>
                </a:solidFill>
                <a:latin typeface="Arial"/>
              </a:defRPr>
            </a:pPr>
            <a:r>
              <a:t>Sources used for the transparency and explainability design recommendations.</a:t>
            </a:r>
          </a:p>
        </p:txBody>
      </p:sp>
      <p:sp>
        <p:nvSpPr>
          <p:cNvPr id="5" name="TextBox 4"/>
          <p:cNvSpPr txBox="1"/>
          <p:nvPr/>
        </p:nvSpPr>
        <p:spPr>
          <a:xfrm>
            <a:off x="502920" y="6473952"/>
            <a:ext cx="11064240" cy="182880"/>
          </a:xfrm>
          <a:prstGeom prst="rect">
            <a:avLst/>
          </a:prstGeom>
          <a:noFill/>
        </p:spPr>
        <p:txBody>
          <a:bodyPr wrap="square" lIns="36576" rIns="36576" tIns="27432" bIns="27432">
            <a:normAutofit/>
          </a:bodyPr>
          <a:lstStyle/>
          <a:p>
            <a:pPr algn="l">
              <a:defRPr sz="800" b="0">
                <a:solidFill>
                  <a:srgbClr val="919BAA"/>
                </a:solidFill>
                <a:latin typeface="Arial"/>
              </a:defRPr>
            </a:pPr>
            <a:r>
              <a:t>AIML-510 | Workshop 2 | Transparency and Explainability Design | 9</a:t>
            </a:r>
          </a:p>
        </p:txBody>
      </p:sp>
      <p:sp>
        <p:nvSpPr>
          <p:cNvPr id="6" name="TextBox 5"/>
          <p:cNvSpPr txBox="1"/>
          <p:nvPr/>
        </p:nvSpPr>
        <p:spPr>
          <a:xfrm>
            <a:off x="749808" y="1115568"/>
            <a:ext cx="10881360" cy="5257800"/>
          </a:xfrm>
          <a:prstGeom prst="rect">
            <a:avLst/>
          </a:prstGeom>
          <a:noFill/>
        </p:spPr>
        <p:txBody>
          <a:bodyPr wrap="square" lIns="45720" rIns="45720" tIns="18288" bIns="18288">
            <a:normAutofit/>
          </a:bodyPr>
          <a:lstStyle/>
          <a:p>
            <a:pPr>
              <a:spcAft>
                <a:spcPts val="600"/>
              </a:spcAft>
              <a:defRPr sz="840">
                <a:solidFill>
                  <a:srgbClr val="242A34"/>
                </a:solidFill>
                <a:latin typeface="Arial"/>
              </a:defRPr>
            </a:pPr>
            <a:r>
              <a:t>Google. (n.d.). Model cards. https://modelcards.withgoogle.com/about</a:t>
            </a:r>
          </a:p>
          <a:p>
            <a:pPr>
              <a:spcAft>
                <a:spcPts val="600"/>
              </a:spcAft>
              <a:defRPr sz="840">
                <a:solidFill>
                  <a:srgbClr val="242A34"/>
                </a:solidFill>
                <a:latin typeface="Arial"/>
              </a:defRPr>
            </a:pPr>
            <a:r>
              <a:t>Han, L. (2026). AIML-510 Assignment 1.3: AI ethical principles case study [PowerPoint slides and assignment notes]. Indiana Wesleyan University.</a:t>
            </a:r>
          </a:p>
          <a:p>
            <a:pPr>
              <a:spcAft>
                <a:spcPts val="600"/>
              </a:spcAft>
              <a:defRPr sz="840">
                <a:solidFill>
                  <a:srgbClr val="242A34"/>
                </a:solidFill>
                <a:latin typeface="Arial"/>
              </a:defRPr>
            </a:pPr>
            <a:r>
              <a:t>IBM. (n.d.). What is AI explainability? https://www.ibm.com/think/topics/ai-explainability</a:t>
            </a:r>
          </a:p>
          <a:p>
            <a:pPr>
              <a:spcAft>
                <a:spcPts val="600"/>
              </a:spcAft>
              <a:defRPr sz="840">
                <a:solidFill>
                  <a:srgbClr val="242A34"/>
                </a:solidFill>
                <a:latin typeface="Arial"/>
              </a:defRPr>
            </a:pPr>
            <a:r>
              <a:t>IBM. (n.d.). What is AI ethics? https://www.ibm.com/think/topics/ai-ethics</a:t>
            </a:r>
          </a:p>
          <a:p>
            <a:pPr>
              <a:spcAft>
                <a:spcPts val="600"/>
              </a:spcAft>
              <a:defRPr sz="840">
                <a:solidFill>
                  <a:srgbClr val="242A34"/>
                </a:solidFill>
                <a:latin typeface="Arial"/>
              </a:defRPr>
            </a:pPr>
            <a:r>
              <a:t>Microsoft. (n.d.). Responsible AI principles and approach. https://www.microsoft.com/en-us/ai/principles-and-approach</a:t>
            </a:r>
          </a:p>
          <a:p>
            <a:pPr>
              <a:spcAft>
                <a:spcPts val="600"/>
              </a:spcAft>
              <a:defRPr sz="840">
                <a:solidFill>
                  <a:srgbClr val="242A34"/>
                </a:solidFill>
                <a:latin typeface="Arial"/>
              </a:defRPr>
            </a:pPr>
            <a:r>
              <a:t>OpenAI. (2024, May 8). Introducing the Model Spec. https://openai.com/index/introducing-the-model-spec/</a:t>
            </a:r>
          </a:p>
          <a:p>
            <a:pPr>
              <a:spcAft>
                <a:spcPts val="600"/>
              </a:spcAft>
              <a:defRPr sz="840">
                <a:solidFill>
                  <a:srgbClr val="242A34"/>
                </a:solidFill>
                <a:latin typeface="Arial"/>
              </a:defRPr>
            </a:pPr>
            <a:r>
              <a:t>OpenAI. (2025, February 12). Sharing the latest Model Spec. https://openai.com/index/sharing-the-latest-model-spec/</a:t>
            </a:r>
          </a:p>
          <a:p>
            <a:pPr>
              <a:spcAft>
                <a:spcPts val="600"/>
              </a:spcAft>
              <a:defRPr sz="840">
                <a:solidFill>
                  <a:srgbClr val="242A34"/>
                </a:solidFill>
                <a:latin typeface="Arial"/>
              </a:defRPr>
            </a:pPr>
            <a:r>
              <a:t>OpenAI. (2026). ChatGPT [Large language model]. Used to help draft and refine the presentation content. https://chat.openai.com/</a:t>
            </a:r>
          </a:p>
          <a:p>
            <a:pPr>
              <a:spcAft>
                <a:spcPts val="600"/>
              </a:spcAft>
              <a:defRPr sz="840">
                <a:solidFill>
                  <a:srgbClr val="242A34"/>
                </a:solidFill>
                <a:latin typeface="Arial"/>
              </a:defRPr>
            </a:pPr>
            <a:r>
              <a:t>Salesforce. (n.d.). Trusted AI at Salesforce. https://www.salesforce.com/artificial-intelligence/trusted-ai/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